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5aaa1c34ba4562" /><Relationship Type="http://schemas.openxmlformats.org/officeDocument/2006/relationships/extended-properties" Target="/docProps/app.xml" Id="R1c745c271d1d411e" /><Relationship Type="http://schemas.openxmlformats.org/officeDocument/2006/relationships/officeDocument" Target="/ppt/presentation.xml" Id="R4cb7fc5057b04122" /></Relationships>
</file>

<file path=ppt/presentation.xml><?xml version="1.0" encoding="utf-8"?>
<p:presentation xmlns:p="http://schemas.openxmlformats.org/presentationml/2006/main">
  <p:sldMasterIdLst>
    <p:sldMasterId xmlns:r="http://schemas.openxmlformats.org/officeDocument/2006/relationships" id="2147483648" r:id="R85aa9c52179247c6"/>
  </p:sldMasterIdLst>
  <p:notesMasterIdLst>
    <p:notesMasterId xmlns:r="http://schemas.openxmlformats.org/officeDocument/2006/relationships" r:id="Re3a6efdf20f44327"/>
  </p:notesMasterIdLst>
  <p:sldIdLst>
    <p:sldId xmlns:r="http://schemas.openxmlformats.org/officeDocument/2006/relationships" id="256" r:id="R0d68929449994d2b"/>
    <p:sldId xmlns:r="http://schemas.openxmlformats.org/officeDocument/2006/relationships" id="257" r:id="R42d1831996084981"/>
    <p:sldId xmlns:r="http://schemas.openxmlformats.org/officeDocument/2006/relationships" id="258" r:id="R06b1a21dd6c1475a"/>
    <p:sldId xmlns:r="http://schemas.openxmlformats.org/officeDocument/2006/relationships" id="259" r:id="R29b0809f50484a73"/>
    <p:sldId xmlns:r="http://schemas.openxmlformats.org/officeDocument/2006/relationships" id="260" r:id="R8dee79c5cb3b45bb"/>
    <p:sldId xmlns:r="http://schemas.openxmlformats.org/officeDocument/2006/relationships" id="261" r:id="R5aff303deb4d40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2de36f224e4e54" /><Relationship Type="http://schemas.openxmlformats.org/officeDocument/2006/relationships/slideMaster" Target="/ppt/slideMasters/slideMaster1.xml" Id="R85aa9c52179247c6" /><Relationship Type="http://schemas.openxmlformats.org/officeDocument/2006/relationships/notesMaster" Target="/ppt/notesMasters/notesMaster1.xml" Id="Re3a6efdf20f44327" /><Relationship Type="http://schemas.openxmlformats.org/officeDocument/2006/relationships/presProps" Target="/ppt/presProps.xml" Id="R10e4fb7b078c45bf" /><Relationship Type="http://schemas.openxmlformats.org/officeDocument/2006/relationships/tableStyles" Target="/ppt/tableStyles.xml" Id="R906da61307b448c2" /><Relationship Type="http://schemas.openxmlformats.org/officeDocument/2006/relationships/slide" Target="/ppt/slides/slide1.xml" Id="R0d68929449994d2b" /><Relationship Type="http://schemas.openxmlformats.org/officeDocument/2006/relationships/slide" Target="/ppt/slides/slide2.xml" Id="R42d1831996084981" /><Relationship Type="http://schemas.openxmlformats.org/officeDocument/2006/relationships/slide" Target="/ppt/slides/slide3.xml" Id="R06b1a21dd6c1475a" /><Relationship Type="http://schemas.openxmlformats.org/officeDocument/2006/relationships/slide" Target="/ppt/slides/slide4.xml" Id="R29b0809f50484a73" /><Relationship Type="http://schemas.openxmlformats.org/officeDocument/2006/relationships/slide" Target="/ppt/slides/slide5.xml" Id="R8dee79c5cb3b45bb" /><Relationship Type="http://schemas.openxmlformats.org/officeDocument/2006/relationships/slide" Target="/ppt/slides/slide6.xml" Id="R5aff303deb4d40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e8d58141584f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3e17aaa53742af" /><Relationship Type="http://schemas.openxmlformats.org/officeDocument/2006/relationships/notesMaster" Target="/ppt/notesMasters/notesMaster1.xml" Id="R8dd65ad881f74d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48490737a54cfc" /><Relationship Type="http://schemas.openxmlformats.org/officeDocument/2006/relationships/notesMaster" Target="/ppt/notesMasters/notesMaster1.xml" Id="Rc10cbcfab91248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e30d5ca8f34b9b" /><Relationship Type="http://schemas.openxmlformats.org/officeDocument/2006/relationships/notesMaster" Target="/ppt/notesMasters/notesMaster1.xml" Id="R526d3fecbf064c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e54009635a4886" /><Relationship Type="http://schemas.openxmlformats.org/officeDocument/2006/relationships/notesMaster" Target="/ppt/notesMasters/notesMaster1.xml" Id="R2a866e5fb21841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67bd55a9614883" /><Relationship Type="http://schemas.openxmlformats.org/officeDocument/2006/relationships/notesMaster" Target="/ppt/notesMasters/notesMaster1.xml" Id="R8c09366ef069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3307eab71645dd" /><Relationship Type="http://schemas.openxmlformats.org/officeDocument/2006/relationships/notesMaster" Target="/ppt/notesMasters/notesMaster1.xml" Id="R12875ad7bc1b4d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0:00–2:00. Before the meeting: participants install Node.js LTS (22 or newer), verify node --version, sign in to OpenRouter, and download the repository. Installation and account recovery are outside the 20 minutes. Pair participants so one operates and one judges answers. Open the prepared app and click a sample prompt. Point out that the screenshot shows DEMO mode, which is a fixed response and does not call AI. In live mode the request path is browser index.html, local POST /api/chat, OpenRouter, NVIDIA model, then back through the server to the browser. An API route is a URL plus server code that receives a request and sends a response. Today is API integration, not model training. Deliverable: one working reply and one intentional customization. GitHub starter: https://github.com/Casper3211/Static-Page-Demo/tree/main/ai-sidequest. Sources: https://openrouter.ai/docs/quickstart and https://nodejs.org/en/download.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2:00–5:00. Step 1: open https://github.com/Casper3211/Static-Page-Demo, choose Code then Download ZIP, extract it, and open ai-sidequest/project in VS Code. This download should ideally be done before the timer. Step 2: open https://openrouter.ai/settings/keys, sign in, click Create Key, name it AI Club workshop, and copy it privately. Do not ask participants to display keys on the projector. Step 3: in the editor file explorer, copy .env.example and rename the copy exactly .env, not .env.txt. Step 4: replace paste_your_key_here with the real key after OPENROUTER_API_KEY=. Keep DEMO_MODE=false. Save. .gitignore excludes .env, and our server does not serve it. The requested model ID is already in server.mjs including :free. Only that model is requested, with no paid-model fallback. The model page currently lists zero token pricing, subject to free-model limits and availability. It also discloses logging and asks users not to submit personal or confidential data. Use fictional inputs. If account setup stalls, DEMO_MODE=true allows the rest of the exercise without an AI call. Sources: https://openrouter.ai/developers, https://openrouter.ai/nvidia/nemotron-3-ultra-550b-a55b:free?view=api, https://openrouter.ai/docs/api_reference/limits.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5:00–9:00. Step 5: in the editor select Terminal &gt; New Terminal. Ensure the terminal directory is ai-sidequest/project. Run node --version; version 22 or newer is required. Step 6: run node --env-file=.env server.mjs. No npm install or SDK is required. Step 7: open http://127.0.0.1:4320 in a browser, click Ask Sidequest, type the sample prompt, and Send. Wait for the answer. The startup message and badge should say LIVE. Step 8: open server.mjs and locate MODEL, SYSTEM_PROMPT, and the fetch call. The slide is an excerpt; the actual file builds messages inline. Authorization is a request header that proves which account can use the API. Bearer is the header's authentication scheme. The JSON body contains model and messages. System content sets the bot's role; user content holds the current question. The model content arrives at data.choices[0].message.content. Our server sends only {reply, demo} back to the browser. This local route accepts POST with JSON {message}; typing /api/chat into the address bar sends GET and returns 405. Public browser JavaScript is visible to visitors, so an owner key belongs in the backend environment. Sources: https://openrouter.ai/docs/quickstart and https://openrouter.ai/docs/api-reference/errors. Full implementation: project/server.mjs.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9:00–13:00. Step 9: work on a copy of your existing single-file site. If you do not have one, keep the supplied page. In project/index.html find BOT CSS START/END, BOT HTML START/END and BOT SCRIPT START/END. Copy the complete style block into your site's head. Copy the complete HTML block and script before the closing body tag, in that order. Save the combined page as project/index.html after backing up the supplied example elsewhere within your project folder. Keep your original site's content and styles. The widget uses sq- names to reduce style conflicts. Step 10: refresh the server URL. The button uses position: fixed with bottom and right offsets. It opens the panel; form submission sends a POST request to /api/chat. The script parses JSON and displays data.reply as text. It disables Send while waiting and shows errors. The server returns the reply field after reading OpenRouter's choices[0].message.content. This version sends only the current user message, not the visual chat history: each request starts fresh. Step 11: open http://127.0.0.1:4320/bot to see the same bot as a standalone tool. /bot is a page route, /api/chat is a data route. The example server serves only its built-in HTML routes, not arbitrary local files. For an existing site with external images/CSS/JS, add explicit public static-file serving or use the host's normal public directory as a later extension. GitHub Pages hosts static files only. Publishing the real AI version later needs a backend or serverless function, with server-side secret, authentication and rate limiting. Sources: https://openrouter.ai/docs/quickstart; https://docs.github.com/en/pages/getting-started-with-github-pages/what-is-github-pages.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13:00–18:00. Step 12: choose a job. Sidequest Bot finds a small activity; a study coach turns a topic and deadline into a short plan; a website guide answers from a short factual description you explicitly put in its prompt. Ask teams to predict what will change. Step 13: edit SYSTEM_PROMPT in server.mjs. Example: You are a friendly study coach. Give one 15-minute plan with three short steps and one self-check question. Ask which topic if it is missing. Do not invent assignment requirements. Save the file. Step 14: stop the server with Ctrl+C and rerun node --env-file=.env server.mjs. Changes to server code and .env require a restart. HTML changes need a browser refresh only. Step 15: change Sidequest Bot, Ask Sidequest, and the welcome message in index.html to match the new role. Refresh. Ask the same question before and after, then one vague question. The tester judges whether the format and boundary were followed. A role prompt is guidance, not guaranteed correctness. In DEMO mode answers stay fixed even if the prompt changes, so evaluate real behavior only in LIVE mode. No model training or fine-tuning happens. Stretch goal only if time remains: make /bot the main tool or put explicit website facts in SYSTEM_PROMPT. Completion: demonstrate one reply and explain one 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18:00–20:00. Step 16: check opening/closing the panel, a normal question, and a vague question. Confirm LIVE mode before claiming an AI answer. The UI should show a useful error instead of appearing frozen. 401: correct the key and restart. 402: inspect balance or key limits. 403: inspect access/privacy settings. 429: wait or inspect account quota; another key on the same account does not bypass shared limits. No answer after 60 seconds: retry later or switch to DEMO_MODE=true and restart. Blank content may require a larger completion budget because reasoning consumes output tokens. Step 17: each pair shares its role, one observed reply, and one improvement. Stop with Ctrl+C when finished. The public repository includes a static preview that sends no message to OpenRouter, local project files, this slide deck and README. Real public deployment is a follow-up: keep frontend and /api/chat on the same origin using a server or serverless function, set the key in host secrets, enforce user access and per-user rate limits, and retest. GitHub Pages cannot execute this Node server. Do not publish .env or your API key. Source links: https://github.com/Casper3211/Static-Page-Demo/tree/main/ai-sidequest; https://openrouter.ai/docs/quickstart; https://openrouter.ai/docs/api_reference/limits; https://openrouter.ai/docs/api-reference/errors; https://docs.github.com/en/pages/getting-started-with-github-pages/what-is-github-pages. Resource footers link to the repository workshop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fa8dc363974b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2310e4a81d4234" /><Relationship Type="http://schemas.openxmlformats.org/officeDocument/2006/relationships/slideLayout" Target="/ppt/slideLayouts/slideLayout1.xml" Id="R2a968adf1d3b4c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968adf1d3b4c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088455702cb4c90"/><Relationship Type="http://schemas.openxmlformats.org/officeDocument/2006/relationships/image" Target="/ppt/media/image.png" Id="R9f1bfee44c554298"/><Relationship Type="http://schemas.openxmlformats.org/officeDocument/2006/relationships/notesSlide" Target="/ppt/notesSlides/notesSlide1.xml" Id="R1d61ff136f394fd9"/><Relationship Id="rIdWorkshopResources" Type="http://schemas.openxmlformats.org/officeDocument/2006/relationships/hyperlink" Target="https://github.com/Casper3211/Static-Page-Demo/tree/main/ai-sidequest" TargetMode="Externa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7d1f55d544e44acc"/><Relationship Type="http://schemas.openxmlformats.org/officeDocument/2006/relationships/notesSlide" Target="/ppt/notesSlides/notesSlide2.xml" Id="R7b84730346314121"/><Relationship Id="rIdWorkshopResources" Type="http://schemas.openxmlformats.org/officeDocument/2006/relationships/hyperlink" Target="https://github.com/Casper3211/Static-Page-Demo/tree/main/ai-sidequest"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ed04a65bcba04f68"/><Relationship Type="http://schemas.openxmlformats.org/officeDocument/2006/relationships/notesSlide" Target="/ppt/notesSlides/notesSlide3.xml" Id="R02e53065a1434b11"/><Relationship Id="rIdWorkshopResources" Type="http://schemas.openxmlformats.org/officeDocument/2006/relationships/hyperlink" Target="https://github.com/Casper3211/Static-Page-Demo/tree/main/ai-sidequest"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6044ab0093ee44f6"/><Relationship Type="http://schemas.openxmlformats.org/officeDocument/2006/relationships/notesSlide" Target="/ppt/notesSlides/notesSlide4.xml" Id="R2f48a04bd7534ee6"/><Relationship Id="rIdWorkshopResources" Type="http://schemas.openxmlformats.org/officeDocument/2006/relationships/hyperlink" Target="https://github.com/Casper3211/Static-Page-Demo/tree/main/ai-sidequest" TargetMode="Externa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6bfa79cea974b32"/><Relationship Type="http://schemas.openxmlformats.org/officeDocument/2006/relationships/notesSlide" Target="/ppt/notesSlides/notesSlide5.xml" Id="R8915849754fc4913"/><Relationship Id="rIdWorkshopResources" Type="http://schemas.openxmlformats.org/officeDocument/2006/relationships/hyperlink" Target="https://github.com/Casper3211/Static-Page-Demo/tree/main/ai-sidequest" TargetMode="Externa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8a9fd59ff09743c6"/><Relationship Type="http://schemas.openxmlformats.org/officeDocument/2006/relationships/notesSlide" Target="/ppt/notesSlides/notesSlide6.xml" Id="R262fb978582f49e9"/><Relationship Id="rIdWorkshopResources" Type="http://schemas.openxmlformats.org/officeDocument/2006/relationships/hyperlink" Target="https://github.com/Casper3211/Static-Page-Demo/tree/main/ai-sidequest" TargetMode="External"/></Relationships>
</file>

<file path=ppt/slides/slide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3" name="club">
            <a:extLst xmlns:a="http://schemas.openxmlformats.org/drawingml/2006/main">
              <a:ext uri="{FF2B5EF4-FFF2-40B4-BE49-F238E27FC236}">
                <a16:creationId xmlns:a16="http://schemas.microsoft.com/office/drawing/2014/main" id="{A9215153-0FD5-4F3F-8162-09A1F0DEBC35}"/>
              </a:ext>
            </a:extLst>
          </p:cNvPr>
          <p:cNvSpPr>
            <a:spLocks xmlns:a="http://schemas.openxmlformats.org/drawingml/2006/main" noGrp="1"/>
          </p:cNvSpPr>
          <p:nvPr/>
        </p:nvSpPr>
        <p:spPr>
          <a:xfrm xmlns:a="http://schemas.openxmlformats.org/drawingml/2006/main">
            <a:off x="609600" y="3238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1">
                <a:solidFill>
                  <a:srgbClr val="142D32"/>
                </a:solidFill>
                <a:latin typeface="Arial"/>
                <a:ea typeface="Arial"/>
                <a:cs typeface="Arial"/>
              </a:defRPr>
            </a:pPr>
            <a:r>
              <a:rPr sz="1500" b="1">
                <a:solidFill>
                  <a:srgbClr val="142D32"/>
                </a:solidFill>
                <a:latin typeface="Arial"/>
                <a:ea typeface="Arial"/>
                <a:cs typeface="Arial"/>
              </a:rPr>
              <a:t>AI CLUB</a:t>
            </a:r>
          </a:p>
        </p:txBody>
      </p:sp>
      <p:sp>
        <p:nvSpPr>
          <p:cNvPr id="2" name="week">
            <a:extLst xmlns:a="http://schemas.openxmlformats.org/drawingml/2006/main">
              <a:ext uri="{FF2B5EF4-FFF2-40B4-BE49-F238E27FC236}">
                <a16:creationId xmlns:a16="http://schemas.microsoft.com/office/drawing/2014/main" id="{9155B2AE-99C5-4A8E-B49A-8CC24BB5E48A}"/>
              </a:ext>
            </a:extLst>
          </p:cNvPr>
          <p:cNvSpPr>
            <a:spLocks xmlns:a="http://schemas.openxmlformats.org/drawingml/2006/main" noGrp="1"/>
          </p:cNvSpPr>
          <p:nvPr/>
        </p:nvSpPr>
        <p:spPr>
          <a:xfrm xmlns:a="http://schemas.openxmlformats.org/drawingml/2006/main">
            <a:off x="9620250" y="3238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087E80"/>
                </a:solidFill>
                <a:latin typeface="Arial"/>
                <a:ea typeface="Arial"/>
                <a:cs typeface="Arial"/>
              </a:defRPr>
            </a:pPr>
            <a:r>
              <a:rPr sz="1500" b="1">
                <a:solidFill>
                  <a:srgbClr val="087E80"/>
                </a:solidFill>
                <a:latin typeface="Arial"/>
                <a:ea typeface="Arial"/>
                <a:cs typeface="Arial"/>
              </a:rPr>
              <a:t>AI LAB 02</a:t>
            </a:r>
          </a:p>
        </p:txBody>
      </p:sp>
      <p:sp>
        <p:nvSpPr>
          <p:cNvPr id="3" name="title">
            <a:extLst xmlns:a="http://schemas.openxmlformats.org/drawingml/2006/main">
              <a:ext uri="{FF2B5EF4-FFF2-40B4-BE49-F238E27FC236}">
                <a16:creationId xmlns:a16="http://schemas.microsoft.com/office/drawing/2014/main" id="{BD7D82B6-E7A8-45D2-A5D4-7721C5DD9A58}"/>
              </a:ext>
            </a:extLst>
          </p:cNvPr>
          <p:cNvSpPr>
            <a:spLocks xmlns:a="http://schemas.openxmlformats.org/drawingml/2006/main" noGrp="1"/>
          </p:cNvSpPr>
          <p:nvPr/>
        </p:nvSpPr>
        <p:spPr>
          <a:xfrm xmlns:a="http://schemas.openxmlformats.org/drawingml/2006/main">
            <a:off x="609600" y="1066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D32"/>
                </a:solidFill>
                <a:latin typeface="Arial"/>
                <a:ea typeface="Arial"/>
                <a:cs typeface="Arial"/>
              </a:defRPr>
            </a:pPr>
            <a:r>
              <a:rPr sz="3600" b="1">
                <a:solidFill>
                  <a:srgbClr val="142D32"/>
                </a:solidFill>
                <a:latin typeface="Arial"/>
                <a:ea typeface="Arial"/>
                <a:cs typeface="Arial"/>
              </a:rPr>
              <a:t>A floating AI bot for your website</a:t>
            </a:r>
          </a:p>
        </p:txBody>
      </p:sp>
      <p:sp>
        <p:nvSpPr>
          <p:cNvPr id="4" name="subheader">
            <a:extLst xmlns:a="http://schemas.openxmlformats.org/drawingml/2006/main">
              <a:ext uri="{FF2B5EF4-FFF2-40B4-BE49-F238E27FC236}">
                <a16:creationId xmlns:a16="http://schemas.microsoft.com/office/drawing/2014/main" id="{5EDF28EE-6694-41DA-BB96-8E431C8D7D72}"/>
              </a:ext>
            </a:extLst>
          </p:cNvPr>
          <p:cNvSpPr>
            <a:spLocks xmlns:a="http://schemas.openxmlformats.org/drawingml/2006/main" noGrp="1"/>
          </p:cNvSpPr>
          <p:nvPr/>
        </p:nvSpPr>
        <p:spPr>
          <a:xfrm xmlns:a="http://schemas.openxmlformats.org/drawingml/2006/main">
            <a:off x="609600" y="18478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A 20-minute mini project with OpenRouter and one small backend</a:t>
            </a:r>
          </a:p>
        </p:txBody>
      </p:sp>
      <p:sp>
        <p:nvSpPr>
          <p:cNvPr id="5" name="footer-location">
            <a:extLst xmlns:a="http://schemas.openxmlformats.org/drawingml/2006/main">
              <a:ext uri="{FF2B5EF4-FFF2-40B4-BE49-F238E27FC236}">
                <a16:creationId xmlns:a16="http://schemas.microsoft.com/office/drawing/2014/main" id="{6064DC79-0C08-44E8-81B0-B99118CE01AA}"/>
              </a:ext>
            </a:extLst>
          </p:cNvPr>
          <p:cNvSpPr>
            <a:spLocks xmlns:a="http://schemas.openxmlformats.org/drawingml/2006/main" noGrp="1"/>
          </p:cNvSpPr>
          <p:nvPr/>
        </p:nvSpPr>
        <p:spPr>
          <a:xfrm xmlns:a="http://schemas.openxmlformats.org/drawingml/2006/main">
            <a:off x="609600"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53686C"/>
                </a:solidFill>
                <a:latin typeface="Arial"/>
                <a:ea typeface="Arial"/>
                <a:cs typeface="Arial"/>
              </a:defRPr>
            </a:pPr>
            <a:r>
              <a:rPr sz="1350" b="1">
                <a:solidFill>
                  <a:srgbClr val="53686C"/>
                </a:solidFill>
                <a:latin typeface="Arial"/>
                <a:ea typeface="Arial"/>
                <a:cs typeface="Arial"/>
              </a:rPr>
              <a:t>01  Project</a:t>
            </a:r>
          </a:p>
        </p:txBody>
      </p:sp>
      <p:sp>
        <p:nvSpPr>
          <p:cNvPr id="6" name="footer-resource">
            <a:extLst xmlns:a="http://schemas.openxmlformats.org/drawingml/2006/main">
              <a:ext uri="{FF2B5EF4-FFF2-40B4-BE49-F238E27FC236}">
                <a16:creationId xmlns:a16="http://schemas.microsoft.com/office/drawing/2014/main" id="{ED72EE7F-6980-4658-90FD-794987AF78D2}"/>
              </a:ext>
            </a:extLst>
          </p:cNvPr>
          <p:cNvSpPr>
            <a:spLocks xmlns:a="http://schemas.openxmlformats.org/drawingml/2006/main" noGrp="1"/>
          </p:cNvSpPr>
          <p:nvPr/>
        </p:nvSpPr>
        <p:spPr>
          <a:xfrm xmlns:a="http://schemas.openxmlformats.org/drawingml/2006/main">
            <a:off x="6648450" y="6238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087E80"/>
                </a:solidFill>
                <a:latin typeface="Arial"/>
                <a:ea typeface="Arial"/>
                <a:cs typeface="Arial"/>
              </a:defRPr>
            </a:pPr>
            <a:r>
              <a:rPr sz="1350" b="0" u="sng">
                <a:solidFill>
                  <a:srgbClr val="087E80"/>
                </a:solidFill>
                <a:latin typeface="Arial"/>
                <a:ea typeface="Arial"/>
                <a:cs typeface="Arial"/>
                <a:hlinkClick xmlns:ns0="http://schemas.openxmlformats.org/officeDocument/2006/relationships" ns0:id="rIdWorkshopResources"/>
              </a:rPr>
              <a:t>Resources</a:t>
            </a:r>
          </a:p>
        </p:txBody>
      </p:sp>
      <p:sp>
        <p:nvSpPr>
          <p:cNvPr id="7" name="footer-section-slide">
            <a:extLst xmlns:a="http://schemas.openxmlformats.org/drawingml/2006/main">
              <a:ext uri="{FF2B5EF4-FFF2-40B4-BE49-F238E27FC236}">
                <a16:creationId xmlns:a16="http://schemas.microsoft.com/office/drawing/2014/main" id="{659FA34D-1995-4EDF-BC57-32374DB8FD90}"/>
              </a:ext>
            </a:extLst>
          </p:cNvPr>
          <p:cNvSpPr>
            <a:spLocks xmlns:a="http://schemas.openxmlformats.org/drawingml/2006/main" noGrp="1"/>
          </p:cNvSpPr>
          <p:nvPr/>
        </p:nvSpPr>
        <p:spPr>
          <a:xfrm xmlns:a="http://schemas.openxmlformats.org/drawingml/2006/main">
            <a:off x="9058275" y="620077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725" b="1">
                <a:solidFill>
                  <a:srgbClr val="087E80"/>
                </a:solidFill>
                <a:latin typeface="Arial"/>
                <a:ea typeface="Arial"/>
                <a:cs typeface="Arial"/>
              </a:defRPr>
            </a:pPr>
            <a:r>
              <a:rPr sz="1725" b="1">
                <a:solidFill>
                  <a:srgbClr val="087E80"/>
                </a:solidFill>
                <a:latin typeface="Arial"/>
                <a:ea typeface="Arial"/>
                <a:cs typeface="Arial"/>
              </a:rPr>
              <a:t>1-1</a:t>
            </a:r>
          </a:p>
        </p:txBody>
      </p:sp>
      <p:sp>
        <p:nvSpPr>
          <p:cNvPr id="8" name="footer-page">
            <a:extLst xmlns:a="http://schemas.openxmlformats.org/drawingml/2006/main">
              <a:ext uri="{FF2B5EF4-FFF2-40B4-BE49-F238E27FC236}">
                <a16:creationId xmlns:a16="http://schemas.microsoft.com/office/drawing/2014/main" id="{647787DC-8A38-4C7C-AA3A-9F55F3C6208B}"/>
              </a:ext>
            </a:extLst>
          </p:cNvPr>
          <p:cNvSpPr>
            <a:spLocks xmlns:a="http://schemas.openxmlformats.org/drawingml/2006/main" noGrp="1"/>
          </p:cNvSpPr>
          <p:nvPr/>
        </p:nvSpPr>
        <p:spPr>
          <a:xfrm xmlns:a="http://schemas.openxmlformats.org/drawingml/2006/main">
            <a:off x="10477500" y="623887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3686C"/>
                </a:solidFill>
                <a:latin typeface="Arial"/>
                <a:ea typeface="Arial"/>
                <a:cs typeface="Arial"/>
              </a:defRPr>
            </a:pPr>
            <a:r>
              <a:rPr sz="1350" b="0">
                <a:solidFill>
                  <a:srgbClr val="53686C"/>
                </a:solidFill>
                <a:latin typeface="Arial"/>
                <a:ea typeface="Arial"/>
                <a:cs typeface="Arial"/>
              </a:rPr>
              <a:t>01 / 06</a:t>
            </a:r>
          </a:p>
        </p:txBody>
      </p:sp>
      <p:sp>
        <p:nvSpPr>
          <p:cNvPr id="9" name="demo-steps-title">
            <a:extLst xmlns:a="http://schemas.openxmlformats.org/drawingml/2006/main">
              <a:ext uri="{FF2B5EF4-FFF2-40B4-BE49-F238E27FC236}">
                <a16:creationId xmlns:a16="http://schemas.microsoft.com/office/drawing/2014/main" id="{7569D73F-4681-4595-B0AF-71953D026774}"/>
              </a:ext>
            </a:extLst>
          </p:cNvPr>
          <p:cNvSpPr>
            <a:spLocks xmlns:a="http://schemas.openxmlformats.org/drawingml/2006/main" noGrp="1"/>
          </p:cNvSpPr>
          <p:nvPr/>
        </p:nvSpPr>
        <p:spPr>
          <a:xfrm xmlns:a="http://schemas.openxmlformats.org/drawingml/2006/main">
            <a:off x="609600" y="2819400"/>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1">
                <a:solidFill>
                  <a:srgbClr val="087E80"/>
                </a:solidFill>
                <a:latin typeface="Arial"/>
                <a:ea typeface="Arial"/>
                <a:cs typeface="Arial"/>
              </a:defRPr>
            </a:pPr>
            <a:r>
              <a:rPr sz="1425" b="1">
                <a:solidFill>
                  <a:srgbClr val="087E80"/>
                </a:solidFill>
                <a:latin typeface="Arial"/>
                <a:ea typeface="Arial"/>
                <a:cs typeface="Arial"/>
              </a:rPr>
              <a:t>TODAY’S BUILD</a:t>
            </a:r>
          </a:p>
        </p:txBody>
      </p:sp>
      <p:sp>
        <p:nvSpPr>
          <p:cNvPr id="10" name="demo-steps">
            <a:extLst xmlns:a="http://schemas.openxmlformats.org/drawingml/2006/main">
              <a:ext uri="{FF2B5EF4-FFF2-40B4-BE49-F238E27FC236}">
                <a16:creationId xmlns:a16="http://schemas.microsoft.com/office/drawing/2014/main" id="{7526CBD2-FA9F-4747-8CF9-8D7E5F87AFFB}"/>
              </a:ext>
            </a:extLst>
          </p:cNvPr>
          <p:cNvSpPr>
            <a:spLocks xmlns:a="http://schemas.openxmlformats.org/drawingml/2006/main" noGrp="1"/>
          </p:cNvSpPr>
          <p:nvPr/>
        </p:nvSpPr>
        <p:spPr>
          <a:xfrm xmlns:a="http://schemas.openxmlformats.org/drawingml/2006/main">
            <a:off x="609600" y="3429000"/>
            <a:ext cx="41624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0">
                <a:solidFill>
                  <a:srgbClr val="142D32"/>
                </a:solidFill>
                <a:latin typeface="Arial"/>
                <a:ea typeface="Arial"/>
                <a:cs typeface="Arial"/>
              </a:defRPr>
            </a:pPr>
            <a:r>
              <a:rPr sz="2025" b="0">
                <a:solidFill>
                  <a:srgbClr val="142D32"/>
                </a:solidFill>
                <a:latin typeface="Arial"/>
                <a:ea typeface="Arial"/>
                <a:cs typeface="Arial"/>
              </a:rPr>
              <a:t>01  Ask for a sidequest</a:t>
            </a:r>
          </a:p>
          <a:p xmlns:a="http://schemas.openxmlformats.org/drawingml/2006/main">
            <a:r>
              <a:t/>
            </a:r>
          </a:p>
          <a:p xmlns:a="http://schemas.openxmlformats.org/drawingml/2006/main">
            <a:pPr algn="l">
              <a:buNone/>
              <a:defRPr sz="2025" b="0">
                <a:solidFill>
                  <a:srgbClr val="142D32"/>
                </a:solidFill>
                <a:latin typeface="Arial"/>
                <a:ea typeface="Arial"/>
                <a:cs typeface="Arial"/>
              </a:defRPr>
            </a:pPr>
            <a:r>
              <a:rPr sz="2025" b="0">
                <a:solidFill>
                  <a:srgbClr val="142D32"/>
                </a:solidFill>
                <a:latin typeface="Arial"/>
                <a:ea typeface="Arial"/>
                <a:cs typeface="Arial"/>
              </a:rPr>
              <a:t>02  Connect a real AI model</a:t>
            </a:r>
          </a:p>
          <a:p xmlns:a="http://schemas.openxmlformats.org/drawingml/2006/main">
            <a:r>
              <a:t/>
            </a:r>
          </a:p>
          <a:p xmlns:a="http://schemas.openxmlformats.org/drawingml/2006/main">
            <a:pPr algn="l">
              <a:buNone/>
              <a:defRPr sz="2025" b="0">
                <a:solidFill>
                  <a:srgbClr val="142D32"/>
                </a:solidFill>
                <a:latin typeface="Arial"/>
                <a:ea typeface="Arial"/>
                <a:cs typeface="Arial"/>
              </a:defRPr>
            </a:pPr>
            <a:r>
              <a:rPr sz="2025" b="0">
                <a:solidFill>
                  <a:srgbClr val="142D32"/>
                </a:solidFill>
                <a:latin typeface="Arial"/>
                <a:ea typeface="Arial"/>
                <a:cs typeface="Arial"/>
              </a:rPr>
              <a:t>03  Give the bot a new job</a:t>
            </a:r>
          </a:p>
        </p:txBody>
      </p:sp>
      <p:sp>
        <p:nvSpPr>
          <p:cNvPr id="11" name="demo-area">
            <a:extLst xmlns:a="http://schemas.openxmlformats.org/drawingml/2006/main">
              <a:ext uri="{FF2B5EF4-FFF2-40B4-BE49-F238E27FC236}">
                <a16:creationId xmlns:a16="http://schemas.microsoft.com/office/drawing/2014/main" id="{C01B722D-1CED-414A-A9F2-64160398C822}"/>
              </a:ext>
            </a:extLst>
          </p:cNvPr>
          <p:cNvSpPr>
            <a:spLocks xmlns:a="http://schemas.openxmlformats.org/drawingml/2006/main" noGrp="1"/>
          </p:cNvSpPr>
          <p:nvPr/>
        </p:nvSpPr>
        <p:spPr>
          <a:xfrm xmlns:a="http://schemas.openxmlformats.org/drawingml/2006/main">
            <a:off x="5257800" y="2857500"/>
            <a:ext cx="63246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75" b="0">
                <a:solidFill>
                  <a:srgbClr val="53686C"/>
                </a:solidFill>
                <a:latin typeface="Arial"/>
                <a:ea typeface="Arial"/>
                <a:cs typeface="Arial"/>
              </a:defRPr>
            </a:pPr>
            <a:r>
              <a:rPr sz="2175" b="0">
                <a:solidFill>
                  <a:srgbClr val="53686C"/>
                </a:solidFill>
                <a:latin typeface="Arial"/>
                <a:ea typeface="Arial"/>
                <a:cs typeface="Arial"/>
              </a:rPr>
              <a:t/>
            </a:r>
          </a:p>
        </p:txBody>
      </p:sp>
      <p:sp>
        <p:nvSpPr>
          <p:cNvPr id="12" name="demo-question">
            <a:extLst xmlns:a="http://schemas.openxmlformats.org/drawingml/2006/main">
              <a:ext uri="{FF2B5EF4-FFF2-40B4-BE49-F238E27FC236}">
                <a16:creationId xmlns:a16="http://schemas.microsoft.com/office/drawing/2014/main" id="{DF230DE5-B487-426F-8BFE-64401CA74FD7}"/>
              </a:ext>
            </a:extLst>
          </p:cNvPr>
          <p:cNvSpPr>
            <a:spLocks xmlns:a="http://schemas.openxmlformats.org/drawingml/2006/main" noGrp="1"/>
          </p:cNvSpPr>
          <p:nvPr/>
        </p:nvSpPr>
        <p:spPr>
          <a:xfrm xmlns:a="http://schemas.openxmlformats.org/drawingml/2006/main">
            <a:off x="5257800" y="5143500"/>
            <a:ext cx="6324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87E80"/>
                </a:solidFill>
                <a:latin typeface="Arial"/>
                <a:ea typeface="Arial"/>
                <a:cs typeface="Arial"/>
              </a:defRPr>
            </a:pPr>
            <a:r>
              <a:rPr sz="1875" b="1">
                <a:solidFill>
                  <a:srgbClr val="087E80"/>
                </a:solidFill>
                <a:latin typeface="Arial"/>
                <a:ea typeface="Arial"/>
                <a:cs typeface="Arial"/>
              </a:rPr>
              <a:t>Try: “15 minutes, $0, feeling creative”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f1bfee44c554298"/>
          <a:stretch xmlns:a="http://schemas.openxmlformats.org/drawingml/2006/main"/>
        </p:blipFill>
        <p:spPr>
          <a:xfrm xmlns:a="http://schemas.openxmlformats.org/drawingml/2006/main">
            <a:off x="6248400" y="2428875"/>
            <a:ext cx="4343400" cy="2714625"/>
          </a:xfrm>
          <a:prstGeom xmlns:a="http://schemas.openxmlformats.org/drawingml/2006/main" prst="rect">
            <a:avLst/>
          </a:prstGeom>
        </p:spPr>
      </p:pic>
    </p:spTree>
    <p:extLst>
      <p:ext uri="{BB962C8B-B14F-4D97-AF65-F5344CB8AC3E}">
        <p14:creationId xmlns:p14="http://schemas.microsoft.com/office/powerpoint/2010/main" val="1027706640"/>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1" name="club">
            <a:extLst xmlns:a="http://schemas.openxmlformats.org/drawingml/2006/main">
              <a:ext uri="{FF2B5EF4-FFF2-40B4-BE49-F238E27FC236}">
                <a16:creationId xmlns:a16="http://schemas.microsoft.com/office/drawing/2014/main" id="{366D60CB-0E69-4059-85C5-9B5236F59499}"/>
              </a:ext>
            </a:extLst>
          </p:cNvPr>
          <p:cNvSpPr>
            <a:spLocks xmlns:a="http://schemas.openxmlformats.org/drawingml/2006/main" noGrp="1"/>
          </p:cNvSpPr>
          <p:nvPr/>
        </p:nvSpPr>
        <p:spPr>
          <a:xfrm xmlns:a="http://schemas.openxmlformats.org/drawingml/2006/main">
            <a:off x="609600" y="3238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1">
                <a:solidFill>
                  <a:srgbClr val="142D32"/>
                </a:solidFill>
                <a:latin typeface="Arial"/>
                <a:ea typeface="Arial"/>
                <a:cs typeface="Arial"/>
              </a:defRPr>
            </a:pPr>
            <a:r>
              <a:rPr sz="1500" b="1">
                <a:solidFill>
                  <a:srgbClr val="142D32"/>
                </a:solidFill>
                <a:latin typeface="Arial"/>
                <a:ea typeface="Arial"/>
                <a:cs typeface="Arial"/>
              </a:rPr>
              <a:t>AI CLUB</a:t>
            </a:r>
          </a:p>
        </p:txBody>
      </p:sp>
      <p:sp>
        <p:nvSpPr>
          <p:cNvPr id="2" name="week">
            <a:extLst xmlns:a="http://schemas.openxmlformats.org/drawingml/2006/main">
              <a:ext uri="{FF2B5EF4-FFF2-40B4-BE49-F238E27FC236}">
                <a16:creationId xmlns:a16="http://schemas.microsoft.com/office/drawing/2014/main" id="{EBA9C645-F079-4919-9596-4B4696B18D2E}"/>
              </a:ext>
            </a:extLst>
          </p:cNvPr>
          <p:cNvSpPr>
            <a:spLocks xmlns:a="http://schemas.openxmlformats.org/drawingml/2006/main" noGrp="1"/>
          </p:cNvSpPr>
          <p:nvPr/>
        </p:nvSpPr>
        <p:spPr>
          <a:xfrm xmlns:a="http://schemas.openxmlformats.org/drawingml/2006/main">
            <a:off x="9620250" y="3238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087E80"/>
                </a:solidFill>
                <a:latin typeface="Arial"/>
                <a:ea typeface="Arial"/>
                <a:cs typeface="Arial"/>
              </a:defRPr>
            </a:pPr>
            <a:r>
              <a:rPr sz="1500" b="1">
                <a:solidFill>
                  <a:srgbClr val="087E80"/>
                </a:solidFill>
                <a:latin typeface="Arial"/>
                <a:ea typeface="Arial"/>
                <a:cs typeface="Arial"/>
              </a:rPr>
              <a:t>AI LAB 02</a:t>
            </a:r>
          </a:p>
        </p:txBody>
      </p:sp>
      <p:sp>
        <p:nvSpPr>
          <p:cNvPr id="3" name="title">
            <a:extLst xmlns:a="http://schemas.openxmlformats.org/drawingml/2006/main">
              <a:ext uri="{FF2B5EF4-FFF2-40B4-BE49-F238E27FC236}">
                <a16:creationId xmlns:a16="http://schemas.microsoft.com/office/drawing/2014/main" id="{EF48F320-DD91-4BBA-B862-5084F2F45ADE}"/>
              </a:ext>
            </a:extLst>
          </p:cNvPr>
          <p:cNvSpPr>
            <a:spLocks xmlns:a="http://schemas.openxmlformats.org/drawingml/2006/main" noGrp="1"/>
          </p:cNvSpPr>
          <p:nvPr/>
        </p:nvSpPr>
        <p:spPr>
          <a:xfrm xmlns:a="http://schemas.openxmlformats.org/drawingml/2006/main">
            <a:off x="609600" y="1066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D32"/>
                </a:solidFill>
                <a:latin typeface="Arial"/>
                <a:ea typeface="Arial"/>
                <a:cs typeface="Arial"/>
              </a:defRPr>
            </a:pPr>
            <a:r>
              <a:rPr sz="3600" b="1">
                <a:solidFill>
                  <a:srgbClr val="142D32"/>
                </a:solidFill>
                <a:latin typeface="Arial"/>
                <a:ea typeface="Arial"/>
                <a:cs typeface="Arial"/>
              </a:rPr>
              <a:t>1. Your key and project files</a:t>
            </a:r>
          </a:p>
        </p:txBody>
      </p:sp>
      <p:sp>
        <p:nvSpPr>
          <p:cNvPr id="4" name="subheader">
            <a:extLst xmlns:a="http://schemas.openxmlformats.org/drawingml/2006/main">
              <a:ext uri="{FF2B5EF4-FFF2-40B4-BE49-F238E27FC236}">
                <a16:creationId xmlns:a16="http://schemas.microsoft.com/office/drawing/2014/main" id="{5D6446FB-4749-41AC-9A7B-5675002E5DC1}"/>
              </a:ext>
            </a:extLst>
          </p:cNvPr>
          <p:cNvSpPr>
            <a:spLocks xmlns:a="http://schemas.openxmlformats.org/drawingml/2006/main" noGrp="1"/>
          </p:cNvSpPr>
          <p:nvPr/>
        </p:nvSpPr>
        <p:spPr>
          <a:xfrm xmlns:a="http://schemas.openxmlformats.org/drawingml/2006/main">
            <a:off x="609600" y="18478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2:00–5:00   Open the downloaded ai-sidequest/project folder in your editor</a:t>
            </a:r>
          </a:p>
        </p:txBody>
      </p:sp>
      <p:sp>
        <p:nvSpPr>
          <p:cNvPr id="5" name="footer-location">
            <a:extLst xmlns:a="http://schemas.openxmlformats.org/drawingml/2006/main">
              <a:ext uri="{FF2B5EF4-FFF2-40B4-BE49-F238E27FC236}">
                <a16:creationId xmlns:a16="http://schemas.microsoft.com/office/drawing/2014/main" id="{C879AA58-067F-47B0-B57B-7E3EABAE0370}"/>
              </a:ext>
            </a:extLst>
          </p:cNvPr>
          <p:cNvSpPr>
            <a:spLocks xmlns:a="http://schemas.openxmlformats.org/drawingml/2006/main" noGrp="1"/>
          </p:cNvSpPr>
          <p:nvPr/>
        </p:nvSpPr>
        <p:spPr>
          <a:xfrm xmlns:a="http://schemas.openxmlformats.org/drawingml/2006/main">
            <a:off x="609600"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53686C"/>
                </a:solidFill>
                <a:latin typeface="Arial"/>
                <a:ea typeface="Arial"/>
                <a:cs typeface="Arial"/>
              </a:defRPr>
            </a:pPr>
            <a:r>
              <a:rPr sz="1350" b="1">
                <a:solidFill>
                  <a:srgbClr val="53686C"/>
                </a:solidFill>
                <a:latin typeface="Arial"/>
                <a:ea typeface="Arial"/>
                <a:cs typeface="Arial"/>
              </a:rPr>
              <a:t>02  Setup</a:t>
            </a:r>
          </a:p>
        </p:txBody>
      </p:sp>
      <p:sp>
        <p:nvSpPr>
          <p:cNvPr id="6" name="footer-resource">
            <a:extLst xmlns:a="http://schemas.openxmlformats.org/drawingml/2006/main">
              <a:ext uri="{FF2B5EF4-FFF2-40B4-BE49-F238E27FC236}">
                <a16:creationId xmlns:a16="http://schemas.microsoft.com/office/drawing/2014/main" id="{32C7CD02-0D2E-4887-A108-A118D8FADB63}"/>
              </a:ext>
            </a:extLst>
          </p:cNvPr>
          <p:cNvSpPr>
            <a:spLocks xmlns:a="http://schemas.openxmlformats.org/drawingml/2006/main" noGrp="1"/>
          </p:cNvSpPr>
          <p:nvPr/>
        </p:nvSpPr>
        <p:spPr>
          <a:xfrm xmlns:a="http://schemas.openxmlformats.org/drawingml/2006/main">
            <a:off x="6648450" y="6238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087E80"/>
                </a:solidFill>
                <a:latin typeface="Arial"/>
                <a:ea typeface="Arial"/>
                <a:cs typeface="Arial"/>
              </a:defRPr>
            </a:pPr>
            <a:r>
              <a:rPr sz="1350" b="0" u="sng">
                <a:solidFill>
                  <a:srgbClr val="087E80"/>
                </a:solidFill>
                <a:latin typeface="Arial"/>
                <a:ea typeface="Arial"/>
                <a:cs typeface="Arial"/>
                <a:hlinkClick xmlns:ns0="http://schemas.openxmlformats.org/officeDocument/2006/relationships" ns0:id="rIdWorkshopResources"/>
              </a:rPr>
              <a:t>Resources</a:t>
            </a:r>
          </a:p>
        </p:txBody>
      </p:sp>
      <p:sp>
        <p:nvSpPr>
          <p:cNvPr id="7" name="footer-section-slide">
            <a:extLst xmlns:a="http://schemas.openxmlformats.org/drawingml/2006/main">
              <a:ext uri="{FF2B5EF4-FFF2-40B4-BE49-F238E27FC236}">
                <a16:creationId xmlns:a16="http://schemas.microsoft.com/office/drawing/2014/main" id="{1E96ABC6-61AA-4393-AB26-DF957A221A11}"/>
              </a:ext>
            </a:extLst>
          </p:cNvPr>
          <p:cNvSpPr>
            <a:spLocks xmlns:a="http://schemas.openxmlformats.org/drawingml/2006/main" noGrp="1"/>
          </p:cNvSpPr>
          <p:nvPr/>
        </p:nvSpPr>
        <p:spPr>
          <a:xfrm xmlns:a="http://schemas.openxmlformats.org/drawingml/2006/main">
            <a:off x="9058275" y="620077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725" b="1">
                <a:solidFill>
                  <a:srgbClr val="087E80"/>
                </a:solidFill>
                <a:latin typeface="Arial"/>
                <a:ea typeface="Arial"/>
                <a:cs typeface="Arial"/>
              </a:defRPr>
            </a:pPr>
            <a:r>
              <a:rPr sz="1725" b="1">
                <a:solidFill>
                  <a:srgbClr val="087E80"/>
                </a:solidFill>
                <a:latin typeface="Arial"/>
                <a:ea typeface="Arial"/>
                <a:cs typeface="Arial"/>
              </a:rPr>
              <a:t>2-1</a:t>
            </a:r>
          </a:p>
        </p:txBody>
      </p:sp>
      <p:sp>
        <p:nvSpPr>
          <p:cNvPr id="8" name="footer-page">
            <a:extLst xmlns:a="http://schemas.openxmlformats.org/drawingml/2006/main">
              <a:ext uri="{FF2B5EF4-FFF2-40B4-BE49-F238E27FC236}">
                <a16:creationId xmlns:a16="http://schemas.microsoft.com/office/drawing/2014/main" id="{C8408FA6-E463-4CDD-B6F5-5DA963C5DA59}"/>
              </a:ext>
            </a:extLst>
          </p:cNvPr>
          <p:cNvSpPr>
            <a:spLocks xmlns:a="http://schemas.openxmlformats.org/drawingml/2006/main" noGrp="1"/>
          </p:cNvSpPr>
          <p:nvPr/>
        </p:nvSpPr>
        <p:spPr>
          <a:xfrm xmlns:a="http://schemas.openxmlformats.org/drawingml/2006/main">
            <a:off x="10477500" y="623887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3686C"/>
                </a:solidFill>
                <a:latin typeface="Arial"/>
                <a:ea typeface="Arial"/>
                <a:cs typeface="Arial"/>
              </a:defRPr>
            </a:pPr>
            <a:r>
              <a:rPr sz="1350" b="0">
                <a:solidFill>
                  <a:srgbClr val="53686C"/>
                </a:solidFill>
                <a:latin typeface="Arial"/>
                <a:ea typeface="Arial"/>
                <a:cs typeface="Arial"/>
              </a:rPr>
              <a:t>02 / 06</a:t>
            </a:r>
          </a:p>
        </p:txBody>
      </p:sp>
      <p:sp>
        <p:nvSpPr>
          <p:cNvPr id="9" name="number-0">
            <a:extLst xmlns:a="http://schemas.openxmlformats.org/drawingml/2006/main">
              <a:ext uri="{FF2B5EF4-FFF2-40B4-BE49-F238E27FC236}">
                <a16:creationId xmlns:a16="http://schemas.microsoft.com/office/drawing/2014/main" id="{51BDE694-C556-45C9-8B16-C8598B27536B}"/>
              </a:ext>
            </a:extLst>
          </p:cNvPr>
          <p:cNvSpPr>
            <a:spLocks xmlns:a="http://schemas.openxmlformats.org/drawingml/2006/main" noGrp="1"/>
          </p:cNvSpPr>
          <p:nvPr/>
        </p:nvSpPr>
        <p:spPr>
          <a:xfrm xmlns:a="http://schemas.openxmlformats.org/drawingml/2006/main">
            <a:off x="609600" y="2762250"/>
            <a:ext cx="800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87E80"/>
                </a:solidFill>
                <a:latin typeface="Arial"/>
                <a:ea typeface="Arial"/>
                <a:cs typeface="Arial"/>
              </a:defRPr>
            </a:pPr>
            <a:r>
              <a:rPr sz="2400" b="1">
                <a:solidFill>
                  <a:srgbClr val="087E80"/>
                </a:solidFill>
                <a:latin typeface="Arial"/>
                <a:ea typeface="Arial"/>
                <a:cs typeface="Arial"/>
              </a:rPr>
              <a:t>01</a:t>
            </a:r>
          </a:p>
        </p:txBody>
      </p:sp>
      <p:sp>
        <p:nvSpPr>
          <p:cNvPr id="10" name="label-0">
            <a:extLst xmlns:a="http://schemas.openxmlformats.org/drawingml/2006/main">
              <a:ext uri="{FF2B5EF4-FFF2-40B4-BE49-F238E27FC236}">
                <a16:creationId xmlns:a16="http://schemas.microsoft.com/office/drawing/2014/main" id="{E901CE81-5B34-4D37-86AA-33C33C0D7159}"/>
              </a:ext>
            </a:extLst>
          </p:cNvPr>
          <p:cNvSpPr>
            <a:spLocks xmlns:a="http://schemas.openxmlformats.org/drawingml/2006/main" noGrp="1"/>
          </p:cNvSpPr>
          <p:nvPr/>
        </p:nvSpPr>
        <p:spPr>
          <a:xfrm xmlns:a="http://schemas.openxmlformats.org/drawingml/2006/main">
            <a:off x="1638300" y="276225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142D32"/>
                </a:solidFill>
                <a:latin typeface="Arial"/>
                <a:ea typeface="Arial"/>
                <a:cs typeface="Arial"/>
              </a:defRPr>
            </a:pPr>
            <a:r>
              <a:rPr sz="2250" b="1">
                <a:solidFill>
                  <a:srgbClr val="142D32"/>
                </a:solidFill>
                <a:latin typeface="Arial"/>
                <a:ea typeface="Arial"/>
                <a:cs typeface="Arial"/>
              </a:rPr>
              <a:t>Create a key</a:t>
            </a:r>
          </a:p>
        </p:txBody>
      </p:sp>
      <p:sp>
        <p:nvSpPr>
          <p:cNvPr id="11" name="detail-0">
            <a:extLst xmlns:a="http://schemas.openxmlformats.org/drawingml/2006/main">
              <a:ext uri="{FF2B5EF4-FFF2-40B4-BE49-F238E27FC236}">
                <a16:creationId xmlns:a16="http://schemas.microsoft.com/office/drawing/2014/main" id="{BD0ED1E0-713C-4C6D-929D-E0FBED8AF2E8}"/>
              </a:ext>
            </a:extLst>
          </p:cNvPr>
          <p:cNvSpPr>
            <a:spLocks xmlns:a="http://schemas.openxmlformats.org/drawingml/2006/main" noGrp="1"/>
          </p:cNvSpPr>
          <p:nvPr/>
        </p:nvSpPr>
        <p:spPr>
          <a:xfrm xmlns:a="http://schemas.openxmlformats.org/drawingml/2006/main">
            <a:off x="4476750" y="2790825"/>
            <a:ext cx="706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openrouter.ai/settings/keys, then Create Key</a:t>
            </a:r>
          </a:p>
        </p:txBody>
      </p:sp>
      <p:sp>
        <p:nvSpPr>
          <p:cNvPr id="12" name="number-1">
            <a:extLst xmlns:a="http://schemas.openxmlformats.org/drawingml/2006/main">
              <a:ext uri="{FF2B5EF4-FFF2-40B4-BE49-F238E27FC236}">
                <a16:creationId xmlns:a16="http://schemas.microsoft.com/office/drawing/2014/main" id="{AD5A7334-AE57-4202-9AFA-95A3587926EB}"/>
              </a:ext>
            </a:extLst>
          </p:cNvPr>
          <p:cNvSpPr>
            <a:spLocks xmlns:a="http://schemas.openxmlformats.org/drawingml/2006/main" noGrp="1"/>
          </p:cNvSpPr>
          <p:nvPr/>
        </p:nvSpPr>
        <p:spPr>
          <a:xfrm xmlns:a="http://schemas.openxmlformats.org/drawingml/2006/main">
            <a:off x="609600" y="3476625"/>
            <a:ext cx="800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87E80"/>
                </a:solidFill>
                <a:latin typeface="Arial"/>
                <a:ea typeface="Arial"/>
                <a:cs typeface="Arial"/>
              </a:defRPr>
            </a:pPr>
            <a:r>
              <a:rPr sz="2400" b="1">
                <a:solidFill>
                  <a:srgbClr val="087E80"/>
                </a:solidFill>
                <a:latin typeface="Arial"/>
                <a:ea typeface="Arial"/>
                <a:cs typeface="Arial"/>
              </a:rPr>
              <a:t>02</a:t>
            </a:r>
          </a:p>
        </p:txBody>
      </p:sp>
      <p:sp>
        <p:nvSpPr>
          <p:cNvPr id="13" name="label-1">
            <a:extLst xmlns:a="http://schemas.openxmlformats.org/drawingml/2006/main">
              <a:ext uri="{FF2B5EF4-FFF2-40B4-BE49-F238E27FC236}">
                <a16:creationId xmlns:a16="http://schemas.microsoft.com/office/drawing/2014/main" id="{103D2AB4-FD59-4411-8C36-0103588CA6F2}"/>
              </a:ext>
            </a:extLst>
          </p:cNvPr>
          <p:cNvSpPr>
            <a:spLocks xmlns:a="http://schemas.openxmlformats.org/drawingml/2006/main" noGrp="1"/>
          </p:cNvSpPr>
          <p:nvPr/>
        </p:nvSpPr>
        <p:spPr>
          <a:xfrm xmlns:a="http://schemas.openxmlformats.org/drawingml/2006/main">
            <a:off x="1638300" y="3476625"/>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142D32"/>
                </a:solidFill>
                <a:latin typeface="Arial"/>
                <a:ea typeface="Arial"/>
                <a:cs typeface="Arial"/>
              </a:defRPr>
            </a:pPr>
            <a:r>
              <a:rPr sz="2250" b="1">
                <a:solidFill>
                  <a:srgbClr val="142D32"/>
                </a:solidFill>
                <a:latin typeface="Arial"/>
                <a:ea typeface="Arial"/>
                <a:cs typeface="Arial"/>
              </a:rPr>
              <a:t>Copy the sample</a:t>
            </a:r>
          </a:p>
        </p:txBody>
      </p:sp>
      <p:sp>
        <p:nvSpPr>
          <p:cNvPr id="14" name="detail-1">
            <a:extLst xmlns:a="http://schemas.openxmlformats.org/drawingml/2006/main">
              <a:ext uri="{FF2B5EF4-FFF2-40B4-BE49-F238E27FC236}">
                <a16:creationId xmlns:a16="http://schemas.microsoft.com/office/drawing/2014/main" id="{A5914C25-27E7-47D8-9ACC-EFCE8E16BC3D}"/>
              </a:ext>
            </a:extLst>
          </p:cNvPr>
          <p:cNvSpPr>
            <a:spLocks xmlns:a="http://schemas.openxmlformats.org/drawingml/2006/main" noGrp="1"/>
          </p:cNvSpPr>
          <p:nvPr/>
        </p:nvSpPr>
        <p:spPr>
          <a:xfrm xmlns:a="http://schemas.openxmlformats.org/drawingml/2006/main">
            <a:off x="4476750" y="3505200"/>
            <a:ext cx="706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Copy .env.example to .env in the same folder.</a:t>
            </a:r>
          </a:p>
        </p:txBody>
      </p:sp>
      <p:sp>
        <p:nvSpPr>
          <p:cNvPr id="15" name="number-2">
            <a:extLst xmlns:a="http://schemas.openxmlformats.org/drawingml/2006/main">
              <a:ext uri="{FF2B5EF4-FFF2-40B4-BE49-F238E27FC236}">
                <a16:creationId xmlns:a16="http://schemas.microsoft.com/office/drawing/2014/main" id="{48C15E34-16CE-4F28-B10B-104872F8D180}"/>
              </a:ext>
            </a:extLst>
          </p:cNvPr>
          <p:cNvSpPr>
            <a:spLocks xmlns:a="http://schemas.openxmlformats.org/drawingml/2006/main" noGrp="1"/>
          </p:cNvSpPr>
          <p:nvPr/>
        </p:nvSpPr>
        <p:spPr>
          <a:xfrm xmlns:a="http://schemas.openxmlformats.org/drawingml/2006/main">
            <a:off x="609600" y="4191000"/>
            <a:ext cx="800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87E80"/>
                </a:solidFill>
                <a:latin typeface="Arial"/>
                <a:ea typeface="Arial"/>
                <a:cs typeface="Arial"/>
              </a:defRPr>
            </a:pPr>
            <a:r>
              <a:rPr sz="2400" b="1">
                <a:solidFill>
                  <a:srgbClr val="087E80"/>
                </a:solidFill>
                <a:latin typeface="Arial"/>
                <a:ea typeface="Arial"/>
                <a:cs typeface="Arial"/>
              </a:rPr>
              <a:t>03</a:t>
            </a:r>
          </a:p>
        </p:txBody>
      </p:sp>
      <p:sp>
        <p:nvSpPr>
          <p:cNvPr id="16" name="label-2">
            <a:extLst xmlns:a="http://schemas.openxmlformats.org/drawingml/2006/main">
              <a:ext uri="{FF2B5EF4-FFF2-40B4-BE49-F238E27FC236}">
                <a16:creationId xmlns:a16="http://schemas.microsoft.com/office/drawing/2014/main" id="{2D9E683A-398A-4AB2-AA79-A9276DCE23D4}"/>
              </a:ext>
            </a:extLst>
          </p:cNvPr>
          <p:cNvSpPr>
            <a:spLocks xmlns:a="http://schemas.openxmlformats.org/drawingml/2006/main" noGrp="1"/>
          </p:cNvSpPr>
          <p:nvPr/>
        </p:nvSpPr>
        <p:spPr>
          <a:xfrm xmlns:a="http://schemas.openxmlformats.org/drawingml/2006/main">
            <a:off x="1638300" y="41910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142D32"/>
                </a:solidFill>
                <a:latin typeface="Arial"/>
                <a:ea typeface="Arial"/>
                <a:cs typeface="Arial"/>
              </a:defRPr>
            </a:pPr>
            <a:r>
              <a:rPr sz="2250" b="1">
                <a:solidFill>
                  <a:srgbClr val="142D32"/>
                </a:solidFill>
                <a:latin typeface="Arial"/>
                <a:ea typeface="Arial"/>
                <a:cs typeface="Arial"/>
              </a:rPr>
              <a:t>Paste privately</a:t>
            </a:r>
          </a:p>
        </p:txBody>
      </p:sp>
      <p:sp>
        <p:nvSpPr>
          <p:cNvPr id="17" name="detail-2">
            <a:extLst xmlns:a="http://schemas.openxmlformats.org/drawingml/2006/main">
              <a:ext uri="{FF2B5EF4-FFF2-40B4-BE49-F238E27FC236}">
                <a16:creationId xmlns:a16="http://schemas.microsoft.com/office/drawing/2014/main" id="{86AC9DF9-265A-4051-90FA-C86F9F89C9A9}"/>
              </a:ext>
            </a:extLst>
          </p:cNvPr>
          <p:cNvSpPr>
            <a:spLocks xmlns:a="http://schemas.openxmlformats.org/drawingml/2006/main" noGrp="1"/>
          </p:cNvSpPr>
          <p:nvPr/>
        </p:nvSpPr>
        <p:spPr>
          <a:xfrm xmlns:a="http://schemas.openxmlformats.org/drawingml/2006/main">
            <a:off x="4476750" y="4219575"/>
            <a:ext cx="706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In .env: OPENROUTER_API_KEY=your_key</a:t>
            </a:r>
          </a:p>
        </p:txBody>
      </p:sp>
      <p:sp>
        <p:nvSpPr>
          <p:cNvPr id="18" name="number-3">
            <a:extLst xmlns:a="http://schemas.openxmlformats.org/drawingml/2006/main">
              <a:ext uri="{FF2B5EF4-FFF2-40B4-BE49-F238E27FC236}">
                <a16:creationId xmlns:a16="http://schemas.microsoft.com/office/drawing/2014/main" id="{B815891C-F9E3-4E7E-9B17-326932EE6564}"/>
              </a:ext>
            </a:extLst>
          </p:cNvPr>
          <p:cNvSpPr>
            <a:spLocks xmlns:a="http://schemas.openxmlformats.org/drawingml/2006/main" noGrp="1"/>
          </p:cNvSpPr>
          <p:nvPr/>
        </p:nvSpPr>
        <p:spPr>
          <a:xfrm xmlns:a="http://schemas.openxmlformats.org/drawingml/2006/main">
            <a:off x="609600" y="4905375"/>
            <a:ext cx="800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87E80"/>
                </a:solidFill>
                <a:latin typeface="Arial"/>
                <a:ea typeface="Arial"/>
                <a:cs typeface="Arial"/>
              </a:defRPr>
            </a:pPr>
            <a:r>
              <a:rPr sz="2400" b="1">
                <a:solidFill>
                  <a:srgbClr val="087E80"/>
                </a:solidFill>
                <a:latin typeface="Arial"/>
                <a:ea typeface="Arial"/>
                <a:cs typeface="Arial"/>
              </a:rPr>
              <a:t>04</a:t>
            </a:r>
          </a:p>
        </p:txBody>
      </p:sp>
      <p:sp>
        <p:nvSpPr>
          <p:cNvPr id="19" name="label-3">
            <a:extLst xmlns:a="http://schemas.openxmlformats.org/drawingml/2006/main">
              <a:ext uri="{FF2B5EF4-FFF2-40B4-BE49-F238E27FC236}">
                <a16:creationId xmlns:a16="http://schemas.microsoft.com/office/drawing/2014/main" id="{D16D2124-C19D-4287-BA72-4BAFA52DD5C6}"/>
              </a:ext>
            </a:extLst>
          </p:cNvPr>
          <p:cNvSpPr>
            <a:spLocks xmlns:a="http://schemas.openxmlformats.org/drawingml/2006/main" noGrp="1"/>
          </p:cNvSpPr>
          <p:nvPr/>
        </p:nvSpPr>
        <p:spPr>
          <a:xfrm xmlns:a="http://schemas.openxmlformats.org/drawingml/2006/main">
            <a:off x="1638300" y="4905375"/>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142D32"/>
                </a:solidFill>
                <a:latin typeface="Arial"/>
                <a:ea typeface="Arial"/>
                <a:cs typeface="Arial"/>
              </a:defRPr>
            </a:pPr>
            <a:r>
              <a:rPr sz="2250" b="1">
                <a:solidFill>
                  <a:srgbClr val="142D32"/>
                </a:solidFill>
                <a:latin typeface="Arial"/>
                <a:ea typeface="Arial"/>
                <a:cs typeface="Arial"/>
              </a:rPr>
              <a:t>Keep live mode</a:t>
            </a:r>
          </a:p>
        </p:txBody>
      </p:sp>
      <p:sp>
        <p:nvSpPr>
          <p:cNvPr id="20" name="detail-3">
            <a:extLst xmlns:a="http://schemas.openxmlformats.org/drawingml/2006/main">
              <a:ext uri="{FF2B5EF4-FFF2-40B4-BE49-F238E27FC236}">
                <a16:creationId xmlns:a16="http://schemas.microsoft.com/office/drawing/2014/main" id="{9219B99F-90F8-4C32-9F2B-5F01F554F722}"/>
              </a:ext>
            </a:extLst>
          </p:cNvPr>
          <p:cNvSpPr>
            <a:spLocks xmlns:a="http://schemas.openxmlformats.org/drawingml/2006/main" noGrp="1"/>
          </p:cNvSpPr>
          <p:nvPr/>
        </p:nvSpPr>
        <p:spPr>
          <a:xfrm xmlns:a="http://schemas.openxmlformats.org/drawingml/2006/main">
            <a:off x="4476750" y="4933950"/>
            <a:ext cx="706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DEMO_MODE=false, then save the file.</a:t>
            </a:r>
          </a:p>
        </p:txBody>
      </p:sp>
      <p:sp>
        <p:nvSpPr>
          <p:cNvPr id="22" name="model-id">
            <a:extLst xmlns:a="http://schemas.openxmlformats.org/drawingml/2006/main">
              <a:ext uri="{FF2B5EF4-FFF2-40B4-BE49-F238E27FC236}">
                <a16:creationId xmlns:a16="http://schemas.microsoft.com/office/drawing/2014/main" id="{F8758017-B2C3-4EFC-B5A7-CEE95E8005D4}"/>
              </a:ext>
            </a:extLst>
          </p:cNvPr>
          <p:cNvSpPr>
            <a:spLocks xmlns:a="http://schemas.openxmlformats.org/drawingml/2006/main" noGrp="1"/>
          </p:cNvSpPr>
          <p:nvPr/>
        </p:nvSpPr>
        <p:spPr>
          <a:xfrm xmlns:a="http://schemas.openxmlformats.org/drawingml/2006/main">
            <a:off x="609600" y="56197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087E80"/>
                </a:solidFill>
                <a:latin typeface="Arial"/>
                <a:ea typeface="Arial"/>
                <a:cs typeface="Arial"/>
              </a:defRPr>
            </a:pPr>
            <a:r>
              <a:rPr sz="1725">
                <a:solidFill>
                  <a:srgbClr val="087E80"/>
                </a:solidFill>
                <a:latin typeface="Arial"/>
                <a:ea typeface="Arial"/>
                <a:cs typeface="Arial"/>
              </a:rPr>
              <a:t>Model: nvidia/nemotron-3-ultra-550b-a55b:free</a:t>
            </a:r>
          </a:p>
        </p:txBody>
      </p:sp>
    </p:spTree>
    <p:extLst>
      <p:ext uri="{BB962C8B-B14F-4D97-AF65-F5344CB8AC3E}">
        <p14:creationId xmlns:p14="http://schemas.microsoft.com/office/powerpoint/2010/main" val="398891925"/>
      </p:ext>
    </p:extLst>
  </p:cSld>
</p:sld>
</file>

<file path=ppt/slides/slide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5" name="club">
            <a:extLst xmlns:a="http://schemas.openxmlformats.org/drawingml/2006/main">
              <a:ext uri="{FF2B5EF4-FFF2-40B4-BE49-F238E27FC236}">
                <a16:creationId xmlns:a16="http://schemas.microsoft.com/office/drawing/2014/main" id="{9E83BF3D-4E04-49A2-A99B-2303192D1937}"/>
              </a:ext>
            </a:extLst>
          </p:cNvPr>
          <p:cNvSpPr>
            <a:spLocks xmlns:a="http://schemas.openxmlformats.org/drawingml/2006/main" noGrp="1"/>
          </p:cNvSpPr>
          <p:nvPr/>
        </p:nvSpPr>
        <p:spPr>
          <a:xfrm xmlns:a="http://schemas.openxmlformats.org/drawingml/2006/main">
            <a:off x="609600" y="3238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1">
                <a:solidFill>
                  <a:srgbClr val="142D32"/>
                </a:solidFill>
                <a:latin typeface="Arial"/>
                <a:ea typeface="Arial"/>
                <a:cs typeface="Arial"/>
              </a:defRPr>
            </a:pPr>
            <a:r>
              <a:rPr sz="1500" b="1">
                <a:solidFill>
                  <a:srgbClr val="142D32"/>
                </a:solidFill>
                <a:latin typeface="Arial"/>
                <a:ea typeface="Arial"/>
                <a:cs typeface="Arial"/>
              </a:rPr>
              <a:t>AI CLUB</a:t>
            </a:r>
          </a:p>
        </p:txBody>
      </p:sp>
      <p:sp>
        <p:nvSpPr>
          <p:cNvPr id="2" name="week">
            <a:extLst xmlns:a="http://schemas.openxmlformats.org/drawingml/2006/main">
              <a:ext uri="{FF2B5EF4-FFF2-40B4-BE49-F238E27FC236}">
                <a16:creationId xmlns:a16="http://schemas.microsoft.com/office/drawing/2014/main" id="{B2CFEBF8-1615-4811-B36B-7ECF9C028B66}"/>
              </a:ext>
            </a:extLst>
          </p:cNvPr>
          <p:cNvSpPr>
            <a:spLocks xmlns:a="http://schemas.openxmlformats.org/drawingml/2006/main" noGrp="1"/>
          </p:cNvSpPr>
          <p:nvPr/>
        </p:nvSpPr>
        <p:spPr>
          <a:xfrm xmlns:a="http://schemas.openxmlformats.org/drawingml/2006/main">
            <a:off x="9620250" y="3238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087E80"/>
                </a:solidFill>
                <a:latin typeface="Arial"/>
                <a:ea typeface="Arial"/>
                <a:cs typeface="Arial"/>
              </a:defRPr>
            </a:pPr>
            <a:r>
              <a:rPr sz="1500" b="1">
                <a:solidFill>
                  <a:srgbClr val="087E80"/>
                </a:solidFill>
                <a:latin typeface="Arial"/>
                <a:ea typeface="Arial"/>
                <a:cs typeface="Arial"/>
              </a:rPr>
              <a:t>AI LAB 02</a:t>
            </a:r>
          </a:p>
        </p:txBody>
      </p:sp>
      <p:sp>
        <p:nvSpPr>
          <p:cNvPr id="3" name="title">
            <a:extLst xmlns:a="http://schemas.openxmlformats.org/drawingml/2006/main">
              <a:ext uri="{FF2B5EF4-FFF2-40B4-BE49-F238E27FC236}">
                <a16:creationId xmlns:a16="http://schemas.microsoft.com/office/drawing/2014/main" id="{A66A34A4-4A81-42D5-B58A-9B73C21546DF}"/>
              </a:ext>
            </a:extLst>
          </p:cNvPr>
          <p:cNvSpPr>
            <a:spLocks xmlns:a="http://schemas.openxmlformats.org/drawingml/2006/main" noGrp="1"/>
          </p:cNvSpPr>
          <p:nvPr/>
        </p:nvSpPr>
        <p:spPr>
          <a:xfrm xmlns:a="http://schemas.openxmlformats.org/drawingml/2006/main">
            <a:off x="609600" y="1066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D32"/>
                </a:solidFill>
                <a:latin typeface="Arial"/>
                <a:ea typeface="Arial"/>
                <a:cs typeface="Arial"/>
              </a:defRPr>
            </a:pPr>
            <a:r>
              <a:rPr sz="3600" b="1">
                <a:solidFill>
                  <a:srgbClr val="142D32"/>
                </a:solidFill>
                <a:latin typeface="Arial"/>
                <a:ea typeface="Arial"/>
                <a:cs typeface="Arial"/>
              </a:rPr>
              <a:t>2. The private API route</a:t>
            </a:r>
          </a:p>
        </p:txBody>
      </p:sp>
      <p:sp>
        <p:nvSpPr>
          <p:cNvPr id="4" name="subheader">
            <a:extLst xmlns:a="http://schemas.openxmlformats.org/drawingml/2006/main">
              <a:ext uri="{FF2B5EF4-FFF2-40B4-BE49-F238E27FC236}">
                <a16:creationId xmlns:a16="http://schemas.microsoft.com/office/drawing/2014/main" id="{C1B0794C-E341-4380-9A7B-1FBF40F989AC}"/>
              </a:ext>
            </a:extLst>
          </p:cNvPr>
          <p:cNvSpPr>
            <a:spLocks xmlns:a="http://schemas.openxmlformats.org/drawingml/2006/main" noGrp="1"/>
          </p:cNvSpPr>
          <p:nvPr/>
        </p:nvSpPr>
        <p:spPr>
          <a:xfrm xmlns:a="http://schemas.openxmlformats.org/drawingml/2006/main">
            <a:off x="609600" y="18478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Minutes 5 to 9: index.html calls /api/chat. server.mjs calls OpenRouter.</a:t>
            </a:r>
          </a:p>
        </p:txBody>
      </p:sp>
      <p:sp>
        <p:nvSpPr>
          <p:cNvPr id="5" name="footer-location">
            <a:extLst xmlns:a="http://schemas.openxmlformats.org/drawingml/2006/main">
              <a:ext uri="{FF2B5EF4-FFF2-40B4-BE49-F238E27FC236}">
                <a16:creationId xmlns:a16="http://schemas.microsoft.com/office/drawing/2014/main" id="{EBB86763-7623-4DE5-AFB6-38EE5A536F6A}"/>
              </a:ext>
            </a:extLst>
          </p:cNvPr>
          <p:cNvSpPr>
            <a:spLocks xmlns:a="http://schemas.openxmlformats.org/drawingml/2006/main" noGrp="1"/>
          </p:cNvSpPr>
          <p:nvPr/>
        </p:nvSpPr>
        <p:spPr>
          <a:xfrm xmlns:a="http://schemas.openxmlformats.org/drawingml/2006/main">
            <a:off x="609600"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53686C"/>
                </a:solidFill>
                <a:latin typeface="Arial"/>
                <a:ea typeface="Arial"/>
                <a:cs typeface="Arial"/>
              </a:defRPr>
            </a:pPr>
            <a:r>
              <a:rPr sz="1350" b="1">
                <a:solidFill>
                  <a:srgbClr val="53686C"/>
                </a:solidFill>
                <a:latin typeface="Arial"/>
                <a:ea typeface="Arial"/>
                <a:cs typeface="Arial"/>
              </a:rPr>
              <a:t>02  Connect</a:t>
            </a:r>
          </a:p>
        </p:txBody>
      </p:sp>
      <p:sp>
        <p:nvSpPr>
          <p:cNvPr id="6" name="footer-resource">
            <a:extLst xmlns:a="http://schemas.openxmlformats.org/drawingml/2006/main">
              <a:ext uri="{FF2B5EF4-FFF2-40B4-BE49-F238E27FC236}">
                <a16:creationId xmlns:a16="http://schemas.microsoft.com/office/drawing/2014/main" id="{E55DF6EC-6450-4D03-B340-FE1BA0350320}"/>
              </a:ext>
            </a:extLst>
          </p:cNvPr>
          <p:cNvSpPr>
            <a:spLocks xmlns:a="http://schemas.openxmlformats.org/drawingml/2006/main" noGrp="1"/>
          </p:cNvSpPr>
          <p:nvPr/>
        </p:nvSpPr>
        <p:spPr>
          <a:xfrm xmlns:a="http://schemas.openxmlformats.org/drawingml/2006/main">
            <a:off x="6648450" y="6238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087E80"/>
                </a:solidFill>
                <a:latin typeface="Arial"/>
                <a:ea typeface="Arial"/>
                <a:cs typeface="Arial"/>
              </a:defRPr>
            </a:pPr>
            <a:r>
              <a:rPr sz="1350" b="0" u="sng">
                <a:solidFill>
                  <a:srgbClr val="087E80"/>
                </a:solidFill>
                <a:latin typeface="Arial"/>
                <a:ea typeface="Arial"/>
                <a:cs typeface="Arial"/>
                <a:hlinkClick xmlns:ns0="http://schemas.openxmlformats.org/officeDocument/2006/relationships" ns0:id="rIdWorkshopResources"/>
              </a:rPr>
              <a:t>Resources</a:t>
            </a:r>
          </a:p>
        </p:txBody>
      </p:sp>
      <p:sp>
        <p:nvSpPr>
          <p:cNvPr id="7" name="footer-section-slide">
            <a:extLst xmlns:a="http://schemas.openxmlformats.org/drawingml/2006/main">
              <a:ext uri="{FF2B5EF4-FFF2-40B4-BE49-F238E27FC236}">
                <a16:creationId xmlns:a16="http://schemas.microsoft.com/office/drawing/2014/main" id="{DC4A063C-D98E-44D8-99E8-311522808FEC}"/>
              </a:ext>
            </a:extLst>
          </p:cNvPr>
          <p:cNvSpPr>
            <a:spLocks xmlns:a="http://schemas.openxmlformats.org/drawingml/2006/main" noGrp="1"/>
          </p:cNvSpPr>
          <p:nvPr/>
        </p:nvSpPr>
        <p:spPr>
          <a:xfrm xmlns:a="http://schemas.openxmlformats.org/drawingml/2006/main">
            <a:off x="9058275" y="620077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725" b="1">
                <a:solidFill>
                  <a:srgbClr val="087E80"/>
                </a:solidFill>
                <a:latin typeface="Arial"/>
                <a:ea typeface="Arial"/>
                <a:cs typeface="Arial"/>
              </a:defRPr>
            </a:pPr>
            <a:r>
              <a:rPr sz="1725" b="1">
                <a:solidFill>
                  <a:srgbClr val="087E80"/>
                </a:solidFill>
                <a:latin typeface="Arial"/>
                <a:ea typeface="Arial"/>
                <a:cs typeface="Arial"/>
              </a:rPr>
              <a:t>2-2</a:t>
            </a:r>
          </a:p>
        </p:txBody>
      </p:sp>
      <p:sp>
        <p:nvSpPr>
          <p:cNvPr id="8" name="footer-page">
            <a:extLst xmlns:a="http://schemas.openxmlformats.org/drawingml/2006/main">
              <a:ext uri="{FF2B5EF4-FFF2-40B4-BE49-F238E27FC236}">
                <a16:creationId xmlns:a16="http://schemas.microsoft.com/office/drawing/2014/main" id="{28852A21-0BEF-4D32-B0EF-ED940BEFFFA1}"/>
              </a:ext>
            </a:extLst>
          </p:cNvPr>
          <p:cNvSpPr>
            <a:spLocks xmlns:a="http://schemas.openxmlformats.org/drawingml/2006/main" noGrp="1"/>
          </p:cNvSpPr>
          <p:nvPr/>
        </p:nvSpPr>
        <p:spPr>
          <a:xfrm xmlns:a="http://schemas.openxmlformats.org/drawingml/2006/main">
            <a:off x="10477500" y="623887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3686C"/>
                </a:solidFill>
                <a:latin typeface="Arial"/>
                <a:ea typeface="Arial"/>
                <a:cs typeface="Arial"/>
              </a:defRPr>
            </a:pPr>
            <a:r>
              <a:rPr sz="1350" b="0">
                <a:solidFill>
                  <a:srgbClr val="53686C"/>
                </a:solidFill>
                <a:latin typeface="Arial"/>
                <a:ea typeface="Arial"/>
                <a:cs typeface="Arial"/>
              </a:rPr>
              <a:t>03 / 06</a:t>
            </a:r>
          </a:p>
        </p:txBody>
      </p:sp>
      <p:sp>
        <p:nvSpPr>
          <p:cNvPr id="9" name="left-label">
            <a:extLst xmlns:a="http://schemas.openxmlformats.org/drawingml/2006/main">
              <a:ext uri="{FF2B5EF4-FFF2-40B4-BE49-F238E27FC236}">
                <a16:creationId xmlns:a16="http://schemas.microsoft.com/office/drawing/2014/main" id="{14E39621-3B97-4313-AF9C-62C6D82598D7}"/>
              </a:ext>
            </a:extLst>
          </p:cNvPr>
          <p:cNvSpPr>
            <a:spLocks xmlns:a="http://schemas.openxmlformats.org/drawingml/2006/main" noGrp="1"/>
          </p:cNvSpPr>
          <p:nvPr/>
        </p:nvSpPr>
        <p:spPr>
          <a:xfrm xmlns:a="http://schemas.openxmlformats.org/drawingml/2006/main">
            <a:off x="609600" y="2752725"/>
            <a:ext cx="499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1">
                <a:solidFill>
                  <a:srgbClr val="53686C"/>
                </a:solidFill>
                <a:latin typeface="Arial"/>
                <a:ea typeface="Arial"/>
                <a:cs typeface="Arial"/>
              </a:defRPr>
            </a:pPr>
            <a:r>
              <a:rPr sz="1425" b="1">
                <a:solidFill>
                  <a:srgbClr val="53686C"/>
                </a:solidFill>
                <a:latin typeface="Arial"/>
                <a:ea typeface="Arial"/>
                <a:cs typeface="Arial"/>
              </a:rPr>
              <a:t>SERVER.MJS REQUEST EXCERPT</a:t>
            </a:r>
          </a:p>
        </p:txBody>
      </p:sp>
      <p:sp>
        <p:nvSpPr>
          <p:cNvPr id="10" name="left-prompt">
            <a:extLst xmlns:a="http://schemas.openxmlformats.org/drawingml/2006/main">
              <a:ext uri="{FF2B5EF4-FFF2-40B4-BE49-F238E27FC236}">
                <a16:creationId xmlns:a16="http://schemas.microsoft.com/office/drawing/2014/main" id="{F5C4BD44-0293-4300-88D1-582D0C509FBE}"/>
              </a:ext>
            </a:extLst>
          </p:cNvPr>
          <p:cNvSpPr>
            <a:spLocks xmlns:a="http://schemas.openxmlformats.org/drawingml/2006/main" noGrp="1"/>
          </p:cNvSpPr>
          <p:nvPr/>
        </p:nvSpPr>
        <p:spPr>
          <a:xfrm xmlns:a="http://schemas.openxmlformats.org/drawingml/2006/main">
            <a:off x="609600" y="3209925"/>
            <a:ext cx="5715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fetch(ENDPOINT, {</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method: 'POST',</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headers: {</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Authorization: `Bearer ${apiKey}`,</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'Content-Type': 'application/json'</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body: JSON.stringify({ model: MODEL,</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    messages, max_tokens: 2048 })</a:t>
            </a:r>
          </a:p>
          <a:p xmlns:a="http://schemas.openxmlformats.org/drawingml/2006/main">
            <a:pPr algn="l">
              <a:buNone/>
              <a:defRPr sz="1650" b="1">
                <a:solidFill>
                  <a:srgbClr val="142D32"/>
                </a:solidFill>
                <a:latin typeface="Arial"/>
                <a:ea typeface="Arial"/>
                <a:cs typeface="Arial"/>
              </a:defRPr>
            </a:pPr>
            <a:r>
              <a:rPr sz="1650" b="1">
                <a:solidFill>
                  <a:srgbClr val="142D32"/>
                </a:solidFill>
                <a:latin typeface="Arial"/>
                <a:ea typeface="Arial"/>
                <a:cs typeface="Arial"/>
              </a:rPr>
              <a:t>})</a:t>
            </a:r>
          </a:p>
        </p:txBody>
      </p:sp>
      <p:sp>
        <p:nvSpPr>
          <p:cNvPr id="11" name="left-caption">
            <a:extLst xmlns:a="http://schemas.openxmlformats.org/drawingml/2006/main">
              <a:ext uri="{FF2B5EF4-FFF2-40B4-BE49-F238E27FC236}">
                <a16:creationId xmlns:a16="http://schemas.microsoft.com/office/drawing/2014/main" id="{25D8FBD5-2925-42B1-A10D-32015BA93D47}"/>
              </a:ext>
            </a:extLst>
          </p:cNvPr>
          <p:cNvSpPr>
            <a:spLocks xmlns:a="http://schemas.openxmlformats.org/drawingml/2006/main" noGrp="1"/>
          </p:cNvSpPr>
          <p:nvPr/>
        </p:nvSpPr>
        <p:spPr>
          <a:xfrm xmlns:a="http://schemas.openxmlformats.org/drawingml/2006/main">
            <a:off x="609600" y="55435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53686C"/>
                </a:solidFill>
                <a:latin typeface="Arial"/>
                <a:ea typeface="Arial"/>
                <a:cs typeface="Arial"/>
              </a:defRPr>
            </a:pPr>
            <a:r>
              <a:rPr sz="1650" b="0">
                <a:solidFill>
                  <a:srgbClr val="53686C"/>
                </a:solidFill>
                <a:latin typeface="Arial"/>
                <a:ea typeface="Arial"/>
                <a:cs typeface="Arial"/>
              </a:rPr>
              <a:t>ENDPOINT = https://openrouter.ai/</a:t>
            </a:r>
          </a:p>
          <a:p xmlns:a="http://schemas.openxmlformats.org/drawingml/2006/main">
            <a:pPr algn="l">
              <a:buNone/>
              <a:defRPr sz="1650" b="0">
                <a:solidFill>
                  <a:srgbClr val="53686C"/>
                </a:solidFill>
                <a:latin typeface="Arial"/>
                <a:ea typeface="Arial"/>
                <a:cs typeface="Arial"/>
              </a:defRPr>
            </a:pPr>
            <a:r>
              <a:rPr sz="1650" b="0">
                <a:solidFill>
                  <a:srgbClr val="53686C"/>
                </a:solidFill>
                <a:latin typeface="Arial"/>
                <a:ea typeface="Arial"/>
                <a:cs typeface="Arial"/>
              </a:rPr>
              <a:t>api/v1/chat/completions</a:t>
            </a:r>
          </a:p>
        </p:txBody>
      </p:sp>
      <p:sp>
        <p:nvSpPr>
          <p:cNvPr id="12" name="right-label">
            <a:extLst xmlns:a="http://schemas.openxmlformats.org/drawingml/2006/main">
              <a:ext uri="{FF2B5EF4-FFF2-40B4-BE49-F238E27FC236}">
                <a16:creationId xmlns:a16="http://schemas.microsoft.com/office/drawing/2014/main" id="{03B0C3C5-AB47-47C5-86F9-888C436E1B3E}"/>
              </a:ext>
            </a:extLst>
          </p:cNvPr>
          <p:cNvSpPr>
            <a:spLocks xmlns:a="http://schemas.openxmlformats.org/drawingml/2006/main" noGrp="1"/>
          </p:cNvSpPr>
          <p:nvPr/>
        </p:nvSpPr>
        <p:spPr>
          <a:xfrm xmlns:a="http://schemas.openxmlformats.org/drawingml/2006/main">
            <a:off x="6610350" y="2752725"/>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1">
                <a:solidFill>
                  <a:srgbClr val="087E80"/>
                </a:solidFill>
                <a:latin typeface="Arial"/>
                <a:ea typeface="Arial"/>
                <a:cs typeface="Arial"/>
              </a:defRPr>
            </a:pPr>
            <a:r>
              <a:rPr sz="1425" b="1">
                <a:solidFill>
                  <a:srgbClr val="087E80"/>
                </a:solidFill>
                <a:latin typeface="Arial"/>
                <a:ea typeface="Arial"/>
                <a:cs typeface="Arial"/>
              </a:rPr>
              <a:t>RUN IN THE PROJECT TERMINAL</a:t>
            </a:r>
          </a:p>
        </p:txBody>
      </p:sp>
      <p:sp>
        <p:nvSpPr>
          <p:cNvPr id="13" name="right-prompt">
            <a:extLst xmlns:a="http://schemas.openxmlformats.org/drawingml/2006/main">
              <a:ext uri="{FF2B5EF4-FFF2-40B4-BE49-F238E27FC236}">
                <a16:creationId xmlns:a16="http://schemas.microsoft.com/office/drawing/2014/main" id="{59F90D52-9B1C-4538-8AA2-B3B63DC2FB4F}"/>
              </a:ext>
            </a:extLst>
          </p:cNvPr>
          <p:cNvSpPr>
            <a:spLocks xmlns:a="http://schemas.openxmlformats.org/drawingml/2006/main" noGrp="1"/>
          </p:cNvSpPr>
          <p:nvPr/>
        </p:nvSpPr>
        <p:spPr>
          <a:xfrm xmlns:a="http://schemas.openxmlformats.org/drawingml/2006/main">
            <a:off x="6838950" y="3238500"/>
            <a:ext cx="47434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142D32"/>
                </a:solidFill>
                <a:latin typeface="Arial"/>
                <a:ea typeface="Arial"/>
                <a:cs typeface="Arial"/>
              </a:defRPr>
            </a:pPr>
            <a:r>
              <a:rPr sz="1875" b="1">
                <a:solidFill>
                  <a:srgbClr val="142D32"/>
                </a:solidFill>
                <a:latin typeface="Arial"/>
                <a:ea typeface="Arial"/>
                <a:cs typeface="Arial"/>
              </a:rPr>
              <a:t>node --env-file=.env server.mjs</a:t>
            </a:r>
          </a:p>
          <a:p xmlns:a="http://schemas.openxmlformats.org/drawingml/2006/main">
            <a:pPr algn="l">
              <a:buNone/>
              <a:defRPr sz="2400" b="1">
                <a:solidFill>
                  <a:srgbClr val="142D32"/>
                </a:solidFill>
                <a:latin typeface="Arial"/>
                <a:ea typeface="Arial"/>
                <a:cs typeface="Arial"/>
              </a:defRPr>
            </a:pPr>
            <a:r>
              <a:rPr sz="2400" b="1">
                <a:solidFill>
                  <a:srgbClr val="142D32"/>
                </a:solidFill>
                <a:latin typeface="Arial"/>
                <a:ea typeface="Arial"/>
                <a:cs typeface="Arial"/>
              </a:rPr>
              <a:t/>
            </a:r>
          </a:p>
          <a:p xmlns:a="http://schemas.openxmlformats.org/drawingml/2006/main">
            <a:pPr algn="l">
              <a:buNone/>
              <a:defRPr sz="1875" b="1">
                <a:solidFill>
                  <a:srgbClr val="142D32"/>
                </a:solidFill>
                <a:latin typeface="Arial"/>
                <a:ea typeface="Arial"/>
                <a:cs typeface="Arial"/>
              </a:defRPr>
            </a:pPr>
            <a:r>
              <a:rPr sz="1875" b="1">
                <a:solidFill>
                  <a:srgbClr val="142D32"/>
                </a:solidFill>
                <a:latin typeface="Arial"/>
                <a:ea typeface="Arial"/>
                <a:cs typeface="Arial"/>
              </a:rPr>
              <a:t>Open http://127.0.0.1:4320</a:t>
            </a:r>
          </a:p>
          <a:p xmlns:a="http://schemas.openxmlformats.org/drawingml/2006/main">
            <a:pPr algn="l">
              <a:buNone/>
              <a:defRPr sz="1875" b="1">
                <a:solidFill>
                  <a:srgbClr val="142D32"/>
                </a:solidFill>
                <a:latin typeface="Arial"/>
                <a:ea typeface="Arial"/>
                <a:cs typeface="Arial"/>
              </a:defRPr>
            </a:pPr>
            <a:r>
              <a:rPr sz="1875" b="1">
                <a:solidFill>
                  <a:srgbClr val="142D32"/>
                </a:solidFill>
                <a:latin typeface="Arial"/>
                <a:ea typeface="Arial"/>
                <a:cs typeface="Arial"/>
              </a:rPr>
              <a:t>Click Ask Sidequest and send.</a:t>
            </a:r>
          </a:p>
        </p:txBody>
      </p:sp>
      <p:sp>
        <p:nvSpPr>
          <p:cNvPr id="14" name="right-caption">
            <a:extLst xmlns:a="http://schemas.openxmlformats.org/drawingml/2006/main">
              <a:ext uri="{FF2B5EF4-FFF2-40B4-BE49-F238E27FC236}">
                <a16:creationId xmlns:a16="http://schemas.microsoft.com/office/drawing/2014/main" id="{5B07DFD3-E43F-4008-8F22-CC5D5DF20D5C}"/>
              </a:ext>
            </a:extLst>
          </p:cNvPr>
          <p:cNvSpPr>
            <a:spLocks xmlns:a="http://schemas.openxmlformats.org/drawingml/2006/main" noGrp="1"/>
          </p:cNvSpPr>
          <p:nvPr/>
        </p:nvSpPr>
        <p:spPr>
          <a:xfrm xmlns:a="http://schemas.openxmlformats.org/drawingml/2006/main">
            <a:off x="6610350" y="4953000"/>
            <a:ext cx="4972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Keep the terminal open.</a:t>
            </a:r>
          </a:p>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The key stays on the server.</a:t>
            </a:r>
          </a:p>
        </p:txBody>
      </p:sp>
    </p:spTree>
    <p:extLst>
      <p:ext uri="{BB962C8B-B14F-4D97-AF65-F5344CB8AC3E}">
        <p14:creationId xmlns:p14="http://schemas.microsoft.com/office/powerpoint/2010/main" val="1499610271"/>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4" name="club">
            <a:extLst xmlns:a="http://schemas.openxmlformats.org/drawingml/2006/main">
              <a:ext uri="{FF2B5EF4-FFF2-40B4-BE49-F238E27FC236}">
                <a16:creationId xmlns:a16="http://schemas.microsoft.com/office/drawing/2014/main" id="{B4EC50DC-7F40-4DF0-AD4C-53A03D406637}"/>
              </a:ext>
            </a:extLst>
          </p:cNvPr>
          <p:cNvSpPr>
            <a:spLocks xmlns:a="http://schemas.openxmlformats.org/drawingml/2006/main" noGrp="1"/>
          </p:cNvSpPr>
          <p:nvPr/>
        </p:nvSpPr>
        <p:spPr>
          <a:xfrm xmlns:a="http://schemas.openxmlformats.org/drawingml/2006/main">
            <a:off x="609600" y="3238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1">
                <a:solidFill>
                  <a:srgbClr val="142D32"/>
                </a:solidFill>
                <a:latin typeface="Arial"/>
                <a:ea typeface="Arial"/>
                <a:cs typeface="Arial"/>
              </a:defRPr>
            </a:pPr>
            <a:r>
              <a:rPr sz="1500" b="1">
                <a:solidFill>
                  <a:srgbClr val="142D32"/>
                </a:solidFill>
                <a:latin typeface="Arial"/>
                <a:ea typeface="Arial"/>
                <a:cs typeface="Arial"/>
              </a:rPr>
              <a:t>AI CLUB</a:t>
            </a:r>
          </a:p>
        </p:txBody>
      </p:sp>
      <p:sp>
        <p:nvSpPr>
          <p:cNvPr id="2" name="week">
            <a:extLst xmlns:a="http://schemas.openxmlformats.org/drawingml/2006/main">
              <a:ext uri="{FF2B5EF4-FFF2-40B4-BE49-F238E27FC236}">
                <a16:creationId xmlns:a16="http://schemas.microsoft.com/office/drawing/2014/main" id="{AC770622-8657-4952-8386-E499FB852AE4}"/>
              </a:ext>
            </a:extLst>
          </p:cNvPr>
          <p:cNvSpPr>
            <a:spLocks xmlns:a="http://schemas.openxmlformats.org/drawingml/2006/main" noGrp="1"/>
          </p:cNvSpPr>
          <p:nvPr/>
        </p:nvSpPr>
        <p:spPr>
          <a:xfrm xmlns:a="http://schemas.openxmlformats.org/drawingml/2006/main">
            <a:off x="9620250" y="3238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087E80"/>
                </a:solidFill>
                <a:latin typeface="Arial"/>
                <a:ea typeface="Arial"/>
                <a:cs typeface="Arial"/>
              </a:defRPr>
            </a:pPr>
            <a:r>
              <a:rPr sz="1500" b="1">
                <a:solidFill>
                  <a:srgbClr val="087E80"/>
                </a:solidFill>
                <a:latin typeface="Arial"/>
                <a:ea typeface="Arial"/>
                <a:cs typeface="Arial"/>
              </a:rPr>
              <a:t>AI LAB 02</a:t>
            </a:r>
          </a:p>
        </p:txBody>
      </p:sp>
      <p:sp>
        <p:nvSpPr>
          <p:cNvPr id="3" name="title">
            <a:extLst xmlns:a="http://schemas.openxmlformats.org/drawingml/2006/main">
              <a:ext uri="{FF2B5EF4-FFF2-40B4-BE49-F238E27FC236}">
                <a16:creationId xmlns:a16="http://schemas.microsoft.com/office/drawing/2014/main" id="{03E4BAF3-4E46-4487-B205-3D0C06A0154E}"/>
              </a:ext>
            </a:extLst>
          </p:cNvPr>
          <p:cNvSpPr>
            <a:spLocks xmlns:a="http://schemas.openxmlformats.org/drawingml/2006/main" noGrp="1"/>
          </p:cNvSpPr>
          <p:nvPr/>
        </p:nvSpPr>
        <p:spPr>
          <a:xfrm xmlns:a="http://schemas.openxmlformats.org/drawingml/2006/main">
            <a:off x="609600" y="1066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D32"/>
                </a:solidFill>
                <a:latin typeface="Arial"/>
                <a:ea typeface="Arial"/>
                <a:cs typeface="Arial"/>
              </a:defRPr>
            </a:pPr>
            <a:r>
              <a:rPr sz="3600" b="1">
                <a:solidFill>
                  <a:srgbClr val="142D32"/>
                </a:solidFill>
                <a:latin typeface="Arial"/>
                <a:ea typeface="Arial"/>
                <a:cs typeface="Arial"/>
              </a:rPr>
              <a:t>3. The floating chat in index.html</a:t>
            </a:r>
          </a:p>
        </p:txBody>
      </p:sp>
      <p:sp>
        <p:nvSpPr>
          <p:cNvPr id="4" name="subheader">
            <a:extLst xmlns:a="http://schemas.openxmlformats.org/drawingml/2006/main">
              <a:ext uri="{FF2B5EF4-FFF2-40B4-BE49-F238E27FC236}">
                <a16:creationId xmlns:a16="http://schemas.microsoft.com/office/drawing/2014/main" id="{B4878439-B101-4B99-B8D0-0D10A6A52F83}"/>
              </a:ext>
            </a:extLst>
          </p:cNvPr>
          <p:cNvSpPr>
            <a:spLocks xmlns:a="http://schemas.openxmlformats.org/drawingml/2006/main" noGrp="1"/>
          </p:cNvSpPr>
          <p:nvPr/>
        </p:nvSpPr>
        <p:spPr>
          <a:xfrm xmlns:a="http://schemas.openxmlformats.org/drawingml/2006/main">
            <a:off x="609600" y="18478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9:00–13:00   The UI stays in one HTML file. The secret stays in the backend.</a:t>
            </a:r>
          </a:p>
        </p:txBody>
      </p:sp>
      <p:sp>
        <p:nvSpPr>
          <p:cNvPr id="5" name="footer-location">
            <a:extLst xmlns:a="http://schemas.openxmlformats.org/drawingml/2006/main">
              <a:ext uri="{FF2B5EF4-FFF2-40B4-BE49-F238E27FC236}">
                <a16:creationId xmlns:a16="http://schemas.microsoft.com/office/drawing/2014/main" id="{A1CD415B-4B0E-497E-913A-55A0FC852633}"/>
              </a:ext>
            </a:extLst>
          </p:cNvPr>
          <p:cNvSpPr>
            <a:spLocks xmlns:a="http://schemas.openxmlformats.org/drawingml/2006/main" noGrp="1"/>
          </p:cNvSpPr>
          <p:nvPr/>
        </p:nvSpPr>
        <p:spPr>
          <a:xfrm xmlns:a="http://schemas.openxmlformats.org/drawingml/2006/main">
            <a:off x="609600"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53686C"/>
                </a:solidFill>
                <a:latin typeface="Arial"/>
                <a:ea typeface="Arial"/>
                <a:cs typeface="Arial"/>
              </a:defRPr>
            </a:pPr>
            <a:r>
              <a:rPr sz="1350" b="1">
                <a:solidFill>
                  <a:srgbClr val="53686C"/>
                </a:solidFill>
                <a:latin typeface="Arial"/>
                <a:ea typeface="Arial"/>
                <a:cs typeface="Arial"/>
              </a:rPr>
              <a:t>03  Integrate</a:t>
            </a:r>
          </a:p>
        </p:txBody>
      </p:sp>
      <p:sp>
        <p:nvSpPr>
          <p:cNvPr id="6" name="footer-resource">
            <a:extLst xmlns:a="http://schemas.openxmlformats.org/drawingml/2006/main">
              <a:ext uri="{FF2B5EF4-FFF2-40B4-BE49-F238E27FC236}">
                <a16:creationId xmlns:a16="http://schemas.microsoft.com/office/drawing/2014/main" id="{2CAC7AF6-4EE8-4B58-A214-1AAF454FC9AD}"/>
              </a:ext>
            </a:extLst>
          </p:cNvPr>
          <p:cNvSpPr>
            <a:spLocks xmlns:a="http://schemas.openxmlformats.org/drawingml/2006/main" noGrp="1"/>
          </p:cNvSpPr>
          <p:nvPr/>
        </p:nvSpPr>
        <p:spPr>
          <a:xfrm xmlns:a="http://schemas.openxmlformats.org/drawingml/2006/main">
            <a:off x="6648450" y="6238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087E80"/>
                </a:solidFill>
                <a:latin typeface="Arial"/>
                <a:ea typeface="Arial"/>
                <a:cs typeface="Arial"/>
              </a:defRPr>
            </a:pPr>
            <a:r>
              <a:rPr sz="1350" b="0" u="sng">
                <a:solidFill>
                  <a:srgbClr val="087E80"/>
                </a:solidFill>
                <a:latin typeface="Arial"/>
                <a:ea typeface="Arial"/>
                <a:cs typeface="Arial"/>
                <a:hlinkClick xmlns:ns0="http://schemas.openxmlformats.org/officeDocument/2006/relationships" ns0:id="rIdWorkshopResources"/>
              </a:rPr>
              <a:t>Resources</a:t>
            </a:r>
          </a:p>
        </p:txBody>
      </p:sp>
      <p:sp>
        <p:nvSpPr>
          <p:cNvPr id="7" name="footer-section-slide">
            <a:extLst xmlns:a="http://schemas.openxmlformats.org/drawingml/2006/main">
              <a:ext uri="{FF2B5EF4-FFF2-40B4-BE49-F238E27FC236}">
                <a16:creationId xmlns:a16="http://schemas.microsoft.com/office/drawing/2014/main" id="{C92926BB-1FE1-440E-AFAA-DE79740A8A41}"/>
              </a:ext>
            </a:extLst>
          </p:cNvPr>
          <p:cNvSpPr>
            <a:spLocks xmlns:a="http://schemas.openxmlformats.org/drawingml/2006/main" noGrp="1"/>
          </p:cNvSpPr>
          <p:nvPr/>
        </p:nvSpPr>
        <p:spPr>
          <a:xfrm xmlns:a="http://schemas.openxmlformats.org/drawingml/2006/main">
            <a:off x="9058275" y="620077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725" b="1">
                <a:solidFill>
                  <a:srgbClr val="087E80"/>
                </a:solidFill>
                <a:latin typeface="Arial"/>
                <a:ea typeface="Arial"/>
                <a:cs typeface="Arial"/>
              </a:defRPr>
            </a:pPr>
            <a:r>
              <a:rPr sz="1725" b="1">
                <a:solidFill>
                  <a:srgbClr val="087E80"/>
                </a:solidFill>
                <a:latin typeface="Arial"/>
                <a:ea typeface="Arial"/>
                <a:cs typeface="Arial"/>
              </a:rPr>
              <a:t>3-1</a:t>
            </a:r>
          </a:p>
        </p:txBody>
      </p:sp>
      <p:sp>
        <p:nvSpPr>
          <p:cNvPr id="8" name="footer-page">
            <a:extLst xmlns:a="http://schemas.openxmlformats.org/drawingml/2006/main">
              <a:ext uri="{FF2B5EF4-FFF2-40B4-BE49-F238E27FC236}">
                <a16:creationId xmlns:a16="http://schemas.microsoft.com/office/drawing/2014/main" id="{008E3D44-4B38-4AF9-A814-FF598E0F2736}"/>
              </a:ext>
            </a:extLst>
          </p:cNvPr>
          <p:cNvSpPr>
            <a:spLocks xmlns:a="http://schemas.openxmlformats.org/drawingml/2006/main" noGrp="1"/>
          </p:cNvSpPr>
          <p:nvPr/>
        </p:nvSpPr>
        <p:spPr>
          <a:xfrm xmlns:a="http://schemas.openxmlformats.org/drawingml/2006/main">
            <a:off x="10477500" y="623887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3686C"/>
                </a:solidFill>
                <a:latin typeface="Arial"/>
                <a:ea typeface="Arial"/>
                <a:cs typeface="Arial"/>
              </a:defRPr>
            </a:pPr>
            <a:r>
              <a:rPr sz="1350" b="0">
                <a:solidFill>
                  <a:srgbClr val="53686C"/>
                </a:solidFill>
                <a:latin typeface="Arial"/>
                <a:ea typeface="Arial"/>
                <a:cs typeface="Arial"/>
              </a:rPr>
              <a:t>04 / 06</a:t>
            </a:r>
          </a:p>
        </p:txBody>
      </p:sp>
      <p:sp>
        <p:nvSpPr>
          <p:cNvPr id="9" name="lead">
            <a:extLst xmlns:a="http://schemas.openxmlformats.org/drawingml/2006/main">
              <a:ext uri="{FF2B5EF4-FFF2-40B4-BE49-F238E27FC236}">
                <a16:creationId xmlns:a16="http://schemas.microsoft.com/office/drawing/2014/main" id="{D12E5938-7A26-47FE-BAA6-BA78A948BC97}"/>
              </a:ext>
            </a:extLst>
          </p:cNvPr>
          <p:cNvSpPr>
            <a:spLocks xmlns:a="http://schemas.openxmlformats.org/drawingml/2006/main" noGrp="1"/>
          </p:cNvSpPr>
          <p:nvPr/>
        </p:nvSpPr>
        <p:spPr>
          <a:xfrm xmlns:a="http://schemas.openxmlformats.org/drawingml/2006/main">
            <a:off x="609600" y="2857500"/>
            <a:ext cx="571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D32"/>
                </a:solidFill>
                <a:latin typeface="Arial"/>
                <a:ea typeface="Arial"/>
                <a:cs typeface="Arial"/>
              </a:defRPr>
            </a:pPr>
            <a:r>
              <a:rPr sz="2550" b="1">
                <a:solidFill>
                  <a:srgbClr val="142D32"/>
                </a:solidFill>
                <a:latin typeface="Arial"/>
                <a:ea typeface="Arial"/>
                <a:cs typeface="Arial"/>
              </a:rPr>
              <a:t>Copy three marked blocks</a:t>
            </a:r>
          </a:p>
          <a:p xmlns:a="http://schemas.openxmlformats.org/drawingml/2006/main">
            <a:pPr algn="l">
              <a:buNone/>
              <a:defRPr sz="2550" b="1">
                <a:solidFill>
                  <a:srgbClr val="142D32"/>
                </a:solidFill>
                <a:latin typeface="Arial"/>
                <a:ea typeface="Arial"/>
                <a:cs typeface="Arial"/>
              </a:defRPr>
            </a:pPr>
            <a:r>
              <a:rPr sz="2550" b="1">
                <a:solidFill>
                  <a:srgbClr val="142D32"/>
                </a:solidFill>
                <a:latin typeface="Arial"/>
                <a:ea typeface="Arial"/>
                <a:cs typeface="Arial"/>
              </a:rPr>
              <a:t>into your existing page</a:t>
            </a:r>
          </a:p>
        </p:txBody>
      </p:sp>
      <p:sp>
        <p:nvSpPr>
          <p:cNvPr id="10" name="lead-detail">
            <a:extLst xmlns:a="http://schemas.openxmlformats.org/drawingml/2006/main">
              <a:ext uri="{FF2B5EF4-FFF2-40B4-BE49-F238E27FC236}">
                <a16:creationId xmlns:a16="http://schemas.microsoft.com/office/drawing/2014/main" id="{5F71AD43-4046-4D49-B823-17EA0FEC5825}"/>
              </a:ext>
            </a:extLst>
          </p:cNvPr>
          <p:cNvSpPr>
            <a:spLocks xmlns:a="http://schemas.openxmlformats.org/drawingml/2006/main" noGrp="1"/>
          </p:cNvSpPr>
          <p:nvPr/>
        </p:nvSpPr>
        <p:spPr>
          <a:xfrm xmlns:a="http://schemas.openxmlformats.org/drawingml/2006/main">
            <a:off x="609600" y="4029075"/>
            <a:ext cx="5810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BOT CSS into &lt;head&gt;</a:t>
            </a:r>
          </a:p>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BOT HTML + BOT SCRIPT before &lt;/body&gt;</a:t>
            </a:r>
          </a:p>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Save as project/index.html and refresh.</a:t>
            </a:r>
          </a:p>
        </p:txBody>
      </p:sp>
      <p:sp>
        <p:nvSpPr>
          <p:cNvPr id="11" name="example-label">
            <a:extLst xmlns:a="http://schemas.openxmlformats.org/drawingml/2006/main">
              <a:ext uri="{FF2B5EF4-FFF2-40B4-BE49-F238E27FC236}">
                <a16:creationId xmlns:a16="http://schemas.microsoft.com/office/drawing/2014/main" id="{C0F0E3A6-C0BA-4812-A71E-EE33593570EC}"/>
              </a:ext>
            </a:extLst>
          </p:cNvPr>
          <p:cNvSpPr>
            <a:spLocks xmlns:a="http://schemas.openxmlformats.org/drawingml/2006/main" noGrp="1"/>
          </p:cNvSpPr>
          <p:nvPr/>
        </p:nvSpPr>
        <p:spPr>
          <a:xfrm xmlns:a="http://schemas.openxmlformats.org/drawingml/2006/main">
            <a:off x="6838950" y="27432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087E80"/>
                </a:solidFill>
                <a:latin typeface="Arial"/>
                <a:ea typeface="Arial"/>
                <a:cs typeface="Arial"/>
              </a:defRPr>
            </a:pPr>
            <a:r>
              <a:rPr sz="1350" b="1">
                <a:solidFill>
                  <a:srgbClr val="087E80"/>
                </a:solidFill>
                <a:latin typeface="Arial"/>
                <a:ea typeface="Arial"/>
                <a:cs typeface="Arial"/>
              </a:rPr>
              <a:t>THE BROWSER’S REQUEST</a:t>
            </a:r>
          </a:p>
        </p:txBody>
      </p:sp>
      <p:sp>
        <p:nvSpPr>
          <p:cNvPr id="12" name="example">
            <a:extLst xmlns:a="http://schemas.openxmlformats.org/drawingml/2006/main">
              <a:ext uri="{FF2B5EF4-FFF2-40B4-BE49-F238E27FC236}">
                <a16:creationId xmlns:a16="http://schemas.microsoft.com/office/drawing/2014/main" id="{65C7B07F-0842-498C-AF6D-0DEAB040E8FF}"/>
              </a:ext>
            </a:extLst>
          </p:cNvPr>
          <p:cNvSpPr>
            <a:spLocks xmlns:a="http://schemas.openxmlformats.org/drawingml/2006/main" noGrp="1"/>
          </p:cNvSpPr>
          <p:nvPr/>
        </p:nvSpPr>
        <p:spPr>
          <a:xfrm xmlns:a="http://schemas.openxmlformats.org/drawingml/2006/main">
            <a:off x="6838950" y="3228975"/>
            <a:ext cx="47434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142D32"/>
                </a:solidFill>
                <a:latin typeface="Arial"/>
                <a:ea typeface="Arial"/>
                <a:cs typeface="Arial"/>
              </a:defRPr>
            </a:pPr>
            <a:r>
              <a:rPr sz="1650" b="0">
                <a:solidFill>
                  <a:srgbClr val="142D32"/>
                </a:solidFill>
                <a:latin typeface="Arial"/>
                <a:ea typeface="Arial"/>
                <a:cs typeface="Arial"/>
              </a:rPr>
              <a:t>fetch('/api/chat', {</a:t>
            </a:r>
          </a:p>
          <a:p xmlns:a="http://schemas.openxmlformats.org/drawingml/2006/main">
            <a:pPr algn="l">
              <a:buNone/>
              <a:defRPr sz="1650" b="0">
                <a:solidFill>
                  <a:srgbClr val="142D32"/>
                </a:solidFill>
                <a:latin typeface="Arial"/>
                <a:ea typeface="Arial"/>
                <a:cs typeface="Arial"/>
              </a:defRPr>
            </a:pPr>
            <a:r>
              <a:rPr sz="1650" b="0">
                <a:solidFill>
                  <a:srgbClr val="142D32"/>
                </a:solidFill>
                <a:latin typeface="Arial"/>
                <a:ea typeface="Arial"/>
                <a:cs typeface="Arial"/>
              </a:rPr>
              <a:t>  method: 'POST',</a:t>
            </a:r>
          </a:p>
          <a:p xmlns:a="http://schemas.openxmlformats.org/drawingml/2006/main">
            <a:pPr algn="l">
              <a:buNone/>
              <a:defRPr sz="1650" b="0">
                <a:solidFill>
                  <a:srgbClr val="142D32"/>
                </a:solidFill>
                <a:latin typeface="Arial"/>
                <a:ea typeface="Arial"/>
                <a:cs typeface="Arial"/>
              </a:defRPr>
            </a:pPr>
            <a:r>
              <a:rPr sz="1650" b="0">
                <a:solidFill>
                  <a:srgbClr val="142D32"/>
                </a:solidFill>
                <a:latin typeface="Arial"/>
                <a:ea typeface="Arial"/>
                <a:cs typeface="Arial"/>
              </a:rPr>
              <a:t>  headers: {'Content-Type':</a:t>
            </a:r>
          </a:p>
          <a:p xmlns:a="http://schemas.openxmlformats.org/drawingml/2006/main">
            <a:pPr algn="l">
              <a:buNone/>
              <a:defRPr sz="1650" b="0">
                <a:solidFill>
                  <a:srgbClr val="142D32"/>
                </a:solidFill>
                <a:latin typeface="Arial"/>
                <a:ea typeface="Arial"/>
                <a:cs typeface="Arial"/>
              </a:defRPr>
            </a:pPr>
            <a:r>
              <a:rPr sz="1650" b="0">
                <a:solidFill>
                  <a:srgbClr val="142D32"/>
                </a:solidFill>
                <a:latin typeface="Arial"/>
                <a:ea typeface="Arial"/>
                <a:cs typeface="Arial"/>
              </a:rPr>
              <a:t>    'application/json'},</a:t>
            </a:r>
          </a:p>
          <a:p xmlns:a="http://schemas.openxmlformats.org/drawingml/2006/main">
            <a:pPr algn="l">
              <a:buNone/>
              <a:defRPr sz="1650" b="0">
                <a:solidFill>
                  <a:srgbClr val="142D32"/>
                </a:solidFill>
                <a:latin typeface="Arial"/>
                <a:ea typeface="Arial"/>
                <a:cs typeface="Arial"/>
              </a:defRPr>
            </a:pPr>
            <a:r>
              <a:rPr sz="1650" b="0">
                <a:solidFill>
                  <a:srgbClr val="142D32"/>
                </a:solidFill>
                <a:latin typeface="Arial"/>
                <a:ea typeface="Arial"/>
                <a:cs typeface="Arial"/>
              </a:rPr>
              <a:t>  body: JSON.stringify({message})</a:t>
            </a:r>
          </a:p>
          <a:p xmlns:a="http://schemas.openxmlformats.org/drawingml/2006/main">
            <a:pPr algn="l">
              <a:buNone/>
              <a:defRPr sz="1650" b="0">
                <a:solidFill>
                  <a:srgbClr val="142D32"/>
                </a:solidFill>
                <a:latin typeface="Arial"/>
                <a:ea typeface="Arial"/>
                <a:cs typeface="Arial"/>
              </a:defRPr>
            </a:pPr>
            <a:r>
              <a:rPr sz="1650" b="0">
                <a:solidFill>
                  <a:srgbClr val="142D32"/>
                </a:solidFill>
                <a:latin typeface="Arial"/>
                <a:ea typeface="Arial"/>
                <a:cs typeface="Arial"/>
              </a:rPr>
              <a:t>})</a:t>
            </a:r>
          </a:p>
        </p:txBody>
      </p:sp>
      <p:sp>
        <p:nvSpPr>
          <p:cNvPr id="13" name="example-caption">
            <a:extLst xmlns:a="http://schemas.openxmlformats.org/drawingml/2006/main">
              <a:ext uri="{FF2B5EF4-FFF2-40B4-BE49-F238E27FC236}">
                <a16:creationId xmlns:a16="http://schemas.microsoft.com/office/drawing/2014/main" id="{CDE9539E-CA88-4C9C-B91C-E62AD49DED18}"/>
              </a:ext>
            </a:extLst>
          </p:cNvPr>
          <p:cNvSpPr>
            <a:spLocks xmlns:a="http://schemas.openxmlformats.org/drawingml/2006/main" noGrp="1"/>
          </p:cNvSpPr>
          <p:nvPr/>
        </p:nvSpPr>
        <p:spPr>
          <a:xfrm xmlns:a="http://schemas.openxmlformats.org/drawingml/2006/main">
            <a:off x="6838950" y="5248275"/>
            <a:ext cx="4743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1">
                <a:solidFill>
                  <a:srgbClr val="087E80"/>
                </a:solidFill>
                <a:latin typeface="Arial"/>
                <a:ea typeface="Arial"/>
                <a:cs typeface="Arial"/>
              </a:defRPr>
            </a:pPr>
            <a:r>
              <a:rPr sz="1950" b="1">
                <a:solidFill>
                  <a:srgbClr val="087E80"/>
                </a:solidFill>
                <a:latin typeface="Arial"/>
                <a:ea typeface="Arial"/>
                <a:cs typeface="Arial"/>
              </a:rPr>
              <a:t>Full-page option: /bot</a:t>
            </a:r>
          </a:p>
        </p:txBody>
      </p:sp>
      <p:sp>
        <p:nvSpPr>
          <p:cNvPr id="15" name="frontend-check">
            <a:extLst xmlns:a="http://schemas.openxmlformats.org/drawingml/2006/main">
              <a:ext uri="{FF2B5EF4-FFF2-40B4-BE49-F238E27FC236}">
                <a16:creationId xmlns:a16="http://schemas.microsoft.com/office/drawing/2014/main" id="{12048F48-A998-4F40-B3E7-540A4D1AA714}"/>
              </a:ext>
            </a:extLst>
          </p:cNvPr>
          <p:cNvSpPr>
            <a:spLocks xmlns:a="http://schemas.openxmlformats.org/drawingml/2006/main" noGrp="1"/>
          </p:cNvSpPr>
          <p:nvPr/>
        </p:nvSpPr>
        <p:spPr>
          <a:xfrm xmlns:a="http://schemas.openxmlformats.org/drawingml/2006/main">
            <a:off x="609600" y="55626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087E80"/>
                </a:solidFill>
                <a:latin typeface="Arial"/>
                <a:ea typeface="Arial"/>
                <a:cs typeface="Arial"/>
              </a:defRPr>
            </a:pPr>
            <a:r>
              <a:rPr sz="1725">
                <a:solidFill>
                  <a:srgbClr val="087E80"/>
                </a:solidFill>
                <a:latin typeface="Arial"/>
                <a:ea typeface="Arial"/>
                <a:cs typeface="Arial"/>
              </a:rPr>
              <a:t>Send once more. Both layouts use the same /api/chat route.</a:t>
            </a:r>
          </a:p>
        </p:txBody>
      </p:sp>
    </p:spTree>
    <p:extLst>
      <p:ext uri="{BB962C8B-B14F-4D97-AF65-F5344CB8AC3E}">
        <p14:creationId xmlns:p14="http://schemas.microsoft.com/office/powerpoint/2010/main" val="22625506"/>
      </p:ext>
    </p:extLst>
  </p:cSld>
</p:sld>
</file>

<file path=ppt/slides/slide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4" name="club">
            <a:extLst xmlns:a="http://schemas.openxmlformats.org/drawingml/2006/main">
              <a:ext uri="{FF2B5EF4-FFF2-40B4-BE49-F238E27FC236}">
                <a16:creationId xmlns:a16="http://schemas.microsoft.com/office/drawing/2014/main" id="{D4F46362-5E28-4287-8E6E-A5D6F91A981D}"/>
              </a:ext>
            </a:extLst>
          </p:cNvPr>
          <p:cNvSpPr>
            <a:spLocks xmlns:a="http://schemas.openxmlformats.org/drawingml/2006/main" noGrp="1"/>
          </p:cNvSpPr>
          <p:nvPr/>
        </p:nvSpPr>
        <p:spPr>
          <a:xfrm xmlns:a="http://schemas.openxmlformats.org/drawingml/2006/main">
            <a:off x="609600" y="3238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1">
                <a:solidFill>
                  <a:srgbClr val="142D32"/>
                </a:solidFill>
                <a:latin typeface="Arial"/>
                <a:ea typeface="Arial"/>
                <a:cs typeface="Arial"/>
              </a:defRPr>
            </a:pPr>
            <a:r>
              <a:rPr sz="1500" b="1">
                <a:solidFill>
                  <a:srgbClr val="142D32"/>
                </a:solidFill>
                <a:latin typeface="Arial"/>
                <a:ea typeface="Arial"/>
                <a:cs typeface="Arial"/>
              </a:rPr>
              <a:t>AI CLUB</a:t>
            </a:r>
          </a:p>
        </p:txBody>
      </p:sp>
      <p:sp>
        <p:nvSpPr>
          <p:cNvPr id="2" name="week">
            <a:extLst xmlns:a="http://schemas.openxmlformats.org/drawingml/2006/main">
              <a:ext uri="{FF2B5EF4-FFF2-40B4-BE49-F238E27FC236}">
                <a16:creationId xmlns:a16="http://schemas.microsoft.com/office/drawing/2014/main" id="{DA75F62E-B967-4B4C-AAEC-ADEEC3C71B58}"/>
              </a:ext>
            </a:extLst>
          </p:cNvPr>
          <p:cNvSpPr>
            <a:spLocks xmlns:a="http://schemas.openxmlformats.org/drawingml/2006/main" noGrp="1"/>
          </p:cNvSpPr>
          <p:nvPr/>
        </p:nvSpPr>
        <p:spPr>
          <a:xfrm xmlns:a="http://schemas.openxmlformats.org/drawingml/2006/main">
            <a:off x="9620250" y="3238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087E80"/>
                </a:solidFill>
                <a:latin typeface="Arial"/>
                <a:ea typeface="Arial"/>
                <a:cs typeface="Arial"/>
              </a:defRPr>
            </a:pPr>
            <a:r>
              <a:rPr sz="1500" b="1">
                <a:solidFill>
                  <a:srgbClr val="087E80"/>
                </a:solidFill>
                <a:latin typeface="Arial"/>
                <a:ea typeface="Arial"/>
                <a:cs typeface="Arial"/>
              </a:rPr>
              <a:t>AI LAB 02</a:t>
            </a:r>
          </a:p>
        </p:txBody>
      </p:sp>
      <p:sp>
        <p:nvSpPr>
          <p:cNvPr id="3" name="title">
            <a:extLst xmlns:a="http://schemas.openxmlformats.org/drawingml/2006/main">
              <a:ext uri="{FF2B5EF4-FFF2-40B4-BE49-F238E27FC236}">
                <a16:creationId xmlns:a16="http://schemas.microsoft.com/office/drawing/2014/main" id="{E14CD24D-1A47-4B37-80D1-E294497190AE}"/>
              </a:ext>
            </a:extLst>
          </p:cNvPr>
          <p:cNvSpPr>
            <a:spLocks xmlns:a="http://schemas.openxmlformats.org/drawingml/2006/main" noGrp="1"/>
          </p:cNvSpPr>
          <p:nvPr/>
        </p:nvSpPr>
        <p:spPr>
          <a:xfrm xmlns:a="http://schemas.openxmlformats.org/drawingml/2006/main">
            <a:off x="609600" y="1066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D32"/>
                </a:solidFill>
                <a:latin typeface="Arial"/>
                <a:ea typeface="Arial"/>
                <a:cs typeface="Arial"/>
              </a:defRPr>
            </a:pPr>
            <a:r>
              <a:rPr sz="3600" b="1">
                <a:solidFill>
                  <a:srgbClr val="142D32"/>
                </a:solidFill>
                <a:latin typeface="Arial"/>
                <a:ea typeface="Arial"/>
                <a:cs typeface="Arial"/>
              </a:rPr>
              <a:t>4. Your bot, your personality</a:t>
            </a:r>
          </a:p>
        </p:txBody>
      </p:sp>
      <p:sp>
        <p:nvSpPr>
          <p:cNvPr id="4" name="subheader">
            <a:extLst xmlns:a="http://schemas.openxmlformats.org/drawingml/2006/main">
              <a:ext uri="{FF2B5EF4-FFF2-40B4-BE49-F238E27FC236}">
                <a16:creationId xmlns:a16="http://schemas.microsoft.com/office/drawing/2014/main" id="{FA2B23FE-C997-4C74-92B8-CEEAA9FC9ECC}"/>
              </a:ext>
            </a:extLst>
          </p:cNvPr>
          <p:cNvSpPr>
            <a:spLocks xmlns:a="http://schemas.openxmlformats.org/drawingml/2006/main" noGrp="1"/>
          </p:cNvSpPr>
          <p:nvPr/>
        </p:nvSpPr>
        <p:spPr>
          <a:xfrm xmlns:a="http://schemas.openxmlformats.org/drawingml/2006/main">
            <a:off x="609600" y="18478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13:00–18:00   One partner edits. One partner tests the result.</a:t>
            </a:r>
          </a:p>
        </p:txBody>
      </p:sp>
      <p:sp>
        <p:nvSpPr>
          <p:cNvPr id="5" name="footer-location">
            <a:extLst xmlns:a="http://schemas.openxmlformats.org/drawingml/2006/main">
              <a:ext uri="{FF2B5EF4-FFF2-40B4-BE49-F238E27FC236}">
                <a16:creationId xmlns:a16="http://schemas.microsoft.com/office/drawing/2014/main" id="{11BAB357-A6FE-4C84-9D07-584E65384A77}"/>
              </a:ext>
            </a:extLst>
          </p:cNvPr>
          <p:cNvSpPr>
            <a:spLocks xmlns:a="http://schemas.openxmlformats.org/drawingml/2006/main" noGrp="1"/>
          </p:cNvSpPr>
          <p:nvPr/>
        </p:nvSpPr>
        <p:spPr>
          <a:xfrm xmlns:a="http://schemas.openxmlformats.org/drawingml/2006/main">
            <a:off x="609600"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53686C"/>
                </a:solidFill>
                <a:latin typeface="Arial"/>
                <a:ea typeface="Arial"/>
                <a:cs typeface="Arial"/>
              </a:defRPr>
            </a:pPr>
            <a:r>
              <a:rPr sz="1350" b="1">
                <a:solidFill>
                  <a:srgbClr val="53686C"/>
                </a:solidFill>
                <a:latin typeface="Arial"/>
                <a:ea typeface="Arial"/>
                <a:cs typeface="Arial"/>
              </a:rPr>
              <a:t>03  Customize</a:t>
            </a:r>
          </a:p>
        </p:txBody>
      </p:sp>
      <p:sp>
        <p:nvSpPr>
          <p:cNvPr id="6" name="footer-resource">
            <a:extLst xmlns:a="http://schemas.openxmlformats.org/drawingml/2006/main">
              <a:ext uri="{FF2B5EF4-FFF2-40B4-BE49-F238E27FC236}">
                <a16:creationId xmlns:a16="http://schemas.microsoft.com/office/drawing/2014/main" id="{841484C7-D668-4E05-B381-24C098F1FF03}"/>
              </a:ext>
            </a:extLst>
          </p:cNvPr>
          <p:cNvSpPr>
            <a:spLocks xmlns:a="http://schemas.openxmlformats.org/drawingml/2006/main" noGrp="1"/>
          </p:cNvSpPr>
          <p:nvPr/>
        </p:nvSpPr>
        <p:spPr>
          <a:xfrm xmlns:a="http://schemas.openxmlformats.org/drawingml/2006/main">
            <a:off x="6648450" y="6238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087E80"/>
                </a:solidFill>
                <a:latin typeface="Arial"/>
                <a:ea typeface="Arial"/>
                <a:cs typeface="Arial"/>
              </a:defRPr>
            </a:pPr>
            <a:r>
              <a:rPr sz="1350" b="0" u="sng">
                <a:solidFill>
                  <a:srgbClr val="087E80"/>
                </a:solidFill>
                <a:latin typeface="Arial"/>
                <a:ea typeface="Arial"/>
                <a:cs typeface="Arial"/>
                <a:hlinkClick xmlns:ns0="http://schemas.openxmlformats.org/officeDocument/2006/relationships" ns0:id="rIdWorkshopResources"/>
              </a:rPr>
              <a:t>Resources</a:t>
            </a:r>
          </a:p>
        </p:txBody>
      </p:sp>
      <p:sp>
        <p:nvSpPr>
          <p:cNvPr id="7" name="footer-section-slide">
            <a:extLst xmlns:a="http://schemas.openxmlformats.org/drawingml/2006/main">
              <a:ext uri="{FF2B5EF4-FFF2-40B4-BE49-F238E27FC236}">
                <a16:creationId xmlns:a16="http://schemas.microsoft.com/office/drawing/2014/main" id="{6F3D2B98-F3C7-4132-828A-32B955D70813}"/>
              </a:ext>
            </a:extLst>
          </p:cNvPr>
          <p:cNvSpPr>
            <a:spLocks xmlns:a="http://schemas.openxmlformats.org/drawingml/2006/main" noGrp="1"/>
          </p:cNvSpPr>
          <p:nvPr/>
        </p:nvSpPr>
        <p:spPr>
          <a:xfrm xmlns:a="http://schemas.openxmlformats.org/drawingml/2006/main">
            <a:off x="9058275" y="620077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725" b="1">
                <a:solidFill>
                  <a:srgbClr val="087E80"/>
                </a:solidFill>
                <a:latin typeface="Arial"/>
                <a:ea typeface="Arial"/>
                <a:cs typeface="Arial"/>
              </a:defRPr>
            </a:pPr>
            <a:r>
              <a:rPr sz="1725" b="1">
                <a:solidFill>
                  <a:srgbClr val="087E80"/>
                </a:solidFill>
                <a:latin typeface="Arial"/>
                <a:ea typeface="Arial"/>
                <a:cs typeface="Arial"/>
              </a:rPr>
              <a:t>3-2</a:t>
            </a:r>
          </a:p>
        </p:txBody>
      </p:sp>
      <p:sp>
        <p:nvSpPr>
          <p:cNvPr id="8" name="footer-page">
            <a:extLst xmlns:a="http://schemas.openxmlformats.org/drawingml/2006/main">
              <a:ext uri="{FF2B5EF4-FFF2-40B4-BE49-F238E27FC236}">
                <a16:creationId xmlns:a16="http://schemas.microsoft.com/office/drawing/2014/main" id="{9C5A14FD-70CA-4021-9F88-17AC890C85E7}"/>
              </a:ext>
            </a:extLst>
          </p:cNvPr>
          <p:cNvSpPr>
            <a:spLocks xmlns:a="http://schemas.openxmlformats.org/drawingml/2006/main" noGrp="1"/>
          </p:cNvSpPr>
          <p:nvPr/>
        </p:nvSpPr>
        <p:spPr>
          <a:xfrm xmlns:a="http://schemas.openxmlformats.org/drawingml/2006/main">
            <a:off x="10477500" y="623887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3686C"/>
                </a:solidFill>
                <a:latin typeface="Arial"/>
                <a:ea typeface="Arial"/>
                <a:cs typeface="Arial"/>
              </a:defRPr>
            </a:pPr>
            <a:r>
              <a:rPr sz="1350" b="0">
                <a:solidFill>
                  <a:srgbClr val="53686C"/>
                </a:solidFill>
                <a:latin typeface="Arial"/>
                <a:ea typeface="Arial"/>
                <a:cs typeface="Arial"/>
              </a:rPr>
              <a:t>05 / 06</a:t>
            </a:r>
          </a:p>
        </p:txBody>
      </p:sp>
      <p:sp>
        <p:nvSpPr>
          <p:cNvPr id="9" name="exercise-time">
            <a:extLst xmlns:a="http://schemas.openxmlformats.org/drawingml/2006/main">
              <a:ext uri="{FF2B5EF4-FFF2-40B4-BE49-F238E27FC236}">
                <a16:creationId xmlns:a16="http://schemas.microsoft.com/office/drawing/2014/main" id="{451D14E6-44B4-4125-9F77-F4C24DD9652D}"/>
              </a:ext>
            </a:extLst>
          </p:cNvPr>
          <p:cNvSpPr>
            <a:spLocks xmlns:a="http://schemas.openxmlformats.org/drawingml/2006/main" noGrp="1"/>
          </p:cNvSpPr>
          <p:nvPr/>
        </p:nvSpPr>
        <p:spPr>
          <a:xfrm xmlns:a="http://schemas.openxmlformats.org/drawingml/2006/main">
            <a:off x="609600" y="2724150"/>
            <a:ext cx="27336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8400" b="1">
                <a:solidFill>
                  <a:srgbClr val="087E80"/>
                </a:solidFill>
                <a:latin typeface="Arial"/>
                <a:ea typeface="Arial"/>
                <a:cs typeface="Arial"/>
              </a:defRPr>
            </a:pPr>
            <a:r>
              <a:rPr sz="8400" b="1">
                <a:solidFill>
                  <a:srgbClr val="087E80"/>
                </a:solidFill>
                <a:latin typeface="Arial"/>
                <a:ea typeface="Arial"/>
                <a:cs typeface="Arial"/>
              </a:rPr>
              <a:t>05</a:t>
            </a:r>
          </a:p>
        </p:txBody>
      </p:sp>
      <p:sp>
        <p:nvSpPr>
          <p:cNvPr id="10" name="exercise-time-unit">
            <a:extLst xmlns:a="http://schemas.openxmlformats.org/drawingml/2006/main">
              <a:ext uri="{FF2B5EF4-FFF2-40B4-BE49-F238E27FC236}">
                <a16:creationId xmlns:a16="http://schemas.microsoft.com/office/drawing/2014/main" id="{B5D25A3E-ADDE-4263-B940-0E2544C56DC0}"/>
              </a:ext>
            </a:extLst>
          </p:cNvPr>
          <p:cNvSpPr>
            <a:spLocks xmlns:a="http://schemas.openxmlformats.org/drawingml/2006/main" noGrp="1"/>
          </p:cNvSpPr>
          <p:nvPr/>
        </p:nvSpPr>
        <p:spPr>
          <a:xfrm xmlns:a="http://schemas.openxmlformats.org/drawingml/2006/main">
            <a:off x="666750" y="4210050"/>
            <a:ext cx="2733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1">
                <a:solidFill>
                  <a:srgbClr val="087E80"/>
                </a:solidFill>
                <a:latin typeface="Arial"/>
                <a:ea typeface="Arial"/>
                <a:cs typeface="Arial"/>
              </a:defRPr>
            </a:pPr>
            <a:r>
              <a:rPr sz="1725" b="1">
                <a:solidFill>
                  <a:srgbClr val="087E80"/>
                </a:solidFill>
                <a:latin typeface="Arial"/>
                <a:ea typeface="Arial"/>
                <a:cs typeface="Arial"/>
              </a:rPr>
              <a:t>MINUTES</a:t>
            </a:r>
          </a:p>
        </p:txBody>
      </p:sp>
      <p:sp>
        <p:nvSpPr>
          <p:cNvPr id="11" name="exercise-task">
            <a:extLst xmlns:a="http://schemas.openxmlformats.org/drawingml/2006/main">
              <a:ext uri="{FF2B5EF4-FFF2-40B4-BE49-F238E27FC236}">
                <a16:creationId xmlns:a16="http://schemas.microsoft.com/office/drawing/2014/main" id="{504A5C35-D9ED-4268-8323-751623EBB1AB}"/>
              </a:ext>
            </a:extLst>
          </p:cNvPr>
          <p:cNvSpPr>
            <a:spLocks xmlns:a="http://schemas.openxmlformats.org/drawingml/2006/main" noGrp="1"/>
          </p:cNvSpPr>
          <p:nvPr/>
        </p:nvSpPr>
        <p:spPr>
          <a:xfrm xmlns:a="http://schemas.openxmlformats.org/drawingml/2006/main">
            <a:off x="4210050" y="2771775"/>
            <a:ext cx="7372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D32"/>
                </a:solidFill>
                <a:latin typeface="Arial"/>
                <a:ea typeface="Arial"/>
                <a:cs typeface="Arial"/>
              </a:defRPr>
            </a:pPr>
            <a:r>
              <a:rPr sz="2550" b="1">
                <a:solidFill>
                  <a:srgbClr val="142D32"/>
                </a:solidFill>
                <a:latin typeface="Arial"/>
                <a:ea typeface="Arial"/>
                <a:cs typeface="Arial"/>
              </a:rPr>
              <a:t>Sidequest Bot, study coach, or …</a:t>
            </a:r>
          </a:p>
        </p:txBody>
      </p:sp>
      <p:sp>
        <p:nvSpPr>
          <p:cNvPr id="12" name="exercise-steps">
            <a:extLst xmlns:a="http://schemas.openxmlformats.org/drawingml/2006/main">
              <a:ext uri="{FF2B5EF4-FFF2-40B4-BE49-F238E27FC236}">
                <a16:creationId xmlns:a16="http://schemas.microsoft.com/office/drawing/2014/main" id="{D59A8A3D-D38A-42A2-8101-AAF395B68B60}"/>
              </a:ext>
            </a:extLst>
          </p:cNvPr>
          <p:cNvSpPr>
            <a:spLocks xmlns:a="http://schemas.openxmlformats.org/drawingml/2006/main" noGrp="1"/>
          </p:cNvSpPr>
          <p:nvPr/>
        </p:nvSpPr>
        <p:spPr>
          <a:xfrm xmlns:a="http://schemas.openxmlformats.org/drawingml/2006/main">
            <a:off x="4210050" y="3629025"/>
            <a:ext cx="73723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0">
                <a:solidFill>
                  <a:srgbClr val="142D32"/>
                </a:solidFill>
                <a:latin typeface="Arial"/>
                <a:ea typeface="Arial"/>
                <a:cs typeface="Arial"/>
              </a:defRPr>
            </a:pPr>
            <a:r>
              <a:rPr sz="2025" b="0">
                <a:solidFill>
                  <a:srgbClr val="142D32"/>
                </a:solidFill>
                <a:latin typeface="Arial"/>
                <a:ea typeface="Arial"/>
                <a:cs typeface="Arial"/>
              </a:rPr>
              <a:t>Edit SYSTEM_PROMPT in server.mjs.</a:t>
            </a:r>
          </a:p>
          <a:p xmlns:a="http://schemas.openxmlformats.org/drawingml/2006/main">
            <a:pPr>
              <a:defRPr sz="2025">
                <a:latin typeface="Arial"/>
                <a:ea typeface="Arial"/>
                <a:cs typeface="Arial"/>
              </a:defRPr>
            </a:pPr>
            <a:r>
              <a:rPr sz="2025">
                <a:latin typeface="Arial"/>
                <a:ea typeface="Arial"/>
                <a:cs typeface="Arial"/>
              </a:rPr>
              <a:t>Set a role, answer format, and one boundary.</a:t>
            </a:r>
          </a:p>
          <a:p xmlns:a="http://schemas.openxmlformats.org/drawingml/2006/main">
            <a:pPr algn="l">
              <a:buNone/>
              <a:defRPr sz="2100" b="0">
                <a:solidFill>
                  <a:srgbClr val="142D32"/>
                </a:solidFill>
                <a:latin typeface="Arial"/>
                <a:ea typeface="Arial"/>
                <a:cs typeface="Arial"/>
              </a:defRPr>
            </a:pPr>
            <a:r>
              <a:rPr sz="2100" b="0">
                <a:solidFill>
                  <a:srgbClr val="142D32"/>
                </a:solidFill>
                <a:latin typeface="Arial"/>
                <a:ea typeface="Arial"/>
                <a:cs typeface="Arial"/>
              </a:rPr>
              <a:t/>
            </a:r>
          </a:p>
          <a:p xmlns:a="http://schemas.openxmlformats.org/drawingml/2006/main">
            <a:pPr algn="l">
              <a:buNone/>
              <a:defRPr sz="2025" b="0">
                <a:solidFill>
                  <a:srgbClr val="142D32"/>
                </a:solidFill>
                <a:latin typeface="Arial"/>
                <a:ea typeface="Arial"/>
                <a:cs typeface="Arial"/>
              </a:defRPr>
            </a:pPr>
            <a:r>
              <a:rPr sz="2025" b="0">
                <a:solidFill>
                  <a:srgbClr val="142D32"/>
                </a:solidFill>
                <a:latin typeface="Arial"/>
                <a:ea typeface="Arial"/>
                <a:cs typeface="Arial"/>
              </a:rPr>
              <a:t>Save, press Ctrl+C, then run the command again.</a:t>
            </a:r>
          </a:p>
        </p:txBody>
      </p:sp>
      <p:sp>
        <p:nvSpPr>
          <p:cNvPr id="13" name="exercise-deliverable">
            <a:extLst xmlns:a="http://schemas.openxmlformats.org/drawingml/2006/main">
              <a:ext uri="{FF2B5EF4-FFF2-40B4-BE49-F238E27FC236}">
                <a16:creationId xmlns:a16="http://schemas.microsoft.com/office/drawing/2014/main" id="{70C846C9-E107-49FF-842C-3068FA82DA1A}"/>
              </a:ext>
            </a:extLst>
          </p:cNvPr>
          <p:cNvSpPr>
            <a:spLocks xmlns:a="http://schemas.openxmlformats.org/drawingml/2006/main" noGrp="1"/>
          </p:cNvSpPr>
          <p:nvPr/>
        </p:nvSpPr>
        <p:spPr>
          <a:xfrm xmlns:a="http://schemas.openxmlformats.org/drawingml/2006/main">
            <a:off x="4210050" y="5353050"/>
            <a:ext cx="737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1">
                <a:solidFill>
                  <a:srgbClr val="087E80"/>
                </a:solidFill>
                <a:latin typeface="Arial"/>
                <a:ea typeface="Arial"/>
                <a:cs typeface="Arial"/>
              </a:defRPr>
            </a:pPr>
            <a:r>
              <a:rPr sz="1800" b="1">
                <a:solidFill>
                  <a:srgbClr val="087E80"/>
                </a:solidFill>
                <a:latin typeface="Arial"/>
                <a:ea typeface="Arial"/>
                <a:cs typeface="Arial"/>
              </a:rPr>
              <a:t>Change the button name. Try the same question again.</a:t>
            </a:r>
          </a:p>
        </p:txBody>
      </p:sp>
    </p:spTree>
    <p:extLst>
      <p:ext uri="{BB962C8B-B14F-4D97-AF65-F5344CB8AC3E}">
        <p14:creationId xmlns:p14="http://schemas.microsoft.com/office/powerpoint/2010/main" val="1585147934"/>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5" name="club">
            <a:extLst xmlns:a="http://schemas.openxmlformats.org/drawingml/2006/main">
              <a:ext uri="{FF2B5EF4-FFF2-40B4-BE49-F238E27FC236}">
                <a16:creationId xmlns:a16="http://schemas.microsoft.com/office/drawing/2014/main" id="{E09D25FB-31F5-4987-974E-A53A8EA920E6}"/>
              </a:ext>
            </a:extLst>
          </p:cNvPr>
          <p:cNvSpPr>
            <a:spLocks xmlns:a="http://schemas.openxmlformats.org/drawingml/2006/main" noGrp="1"/>
          </p:cNvSpPr>
          <p:nvPr/>
        </p:nvSpPr>
        <p:spPr>
          <a:xfrm xmlns:a="http://schemas.openxmlformats.org/drawingml/2006/main">
            <a:off x="609600" y="3238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1">
                <a:solidFill>
                  <a:srgbClr val="142D32"/>
                </a:solidFill>
                <a:latin typeface="Arial"/>
                <a:ea typeface="Arial"/>
                <a:cs typeface="Arial"/>
              </a:defRPr>
            </a:pPr>
            <a:r>
              <a:rPr sz="1500" b="1">
                <a:solidFill>
                  <a:srgbClr val="142D32"/>
                </a:solidFill>
                <a:latin typeface="Arial"/>
                <a:ea typeface="Arial"/>
                <a:cs typeface="Arial"/>
              </a:rPr>
              <a:t>AI CLUB</a:t>
            </a:r>
          </a:p>
        </p:txBody>
      </p:sp>
      <p:sp>
        <p:nvSpPr>
          <p:cNvPr id="2" name="week">
            <a:extLst xmlns:a="http://schemas.openxmlformats.org/drawingml/2006/main">
              <a:ext uri="{FF2B5EF4-FFF2-40B4-BE49-F238E27FC236}">
                <a16:creationId xmlns:a16="http://schemas.microsoft.com/office/drawing/2014/main" id="{5B6208C6-7D89-4CCB-B5CD-356B811B3DEF}"/>
              </a:ext>
            </a:extLst>
          </p:cNvPr>
          <p:cNvSpPr>
            <a:spLocks xmlns:a="http://schemas.openxmlformats.org/drawingml/2006/main" noGrp="1"/>
          </p:cNvSpPr>
          <p:nvPr/>
        </p:nvSpPr>
        <p:spPr>
          <a:xfrm xmlns:a="http://schemas.openxmlformats.org/drawingml/2006/main">
            <a:off x="9620250" y="3238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087E80"/>
                </a:solidFill>
                <a:latin typeface="Arial"/>
                <a:ea typeface="Arial"/>
                <a:cs typeface="Arial"/>
              </a:defRPr>
            </a:pPr>
            <a:r>
              <a:rPr sz="1500" b="1">
                <a:solidFill>
                  <a:srgbClr val="087E80"/>
                </a:solidFill>
                <a:latin typeface="Arial"/>
                <a:ea typeface="Arial"/>
                <a:cs typeface="Arial"/>
              </a:rPr>
              <a:t>AI LAB 02</a:t>
            </a:r>
          </a:p>
        </p:txBody>
      </p:sp>
      <p:sp>
        <p:nvSpPr>
          <p:cNvPr id="3" name="title">
            <a:extLst xmlns:a="http://schemas.openxmlformats.org/drawingml/2006/main">
              <a:ext uri="{FF2B5EF4-FFF2-40B4-BE49-F238E27FC236}">
                <a16:creationId xmlns:a16="http://schemas.microsoft.com/office/drawing/2014/main" id="{76E4CB26-1783-45D8-A809-9036F4DC4A1A}"/>
              </a:ext>
            </a:extLst>
          </p:cNvPr>
          <p:cNvSpPr>
            <a:spLocks xmlns:a="http://schemas.openxmlformats.org/drawingml/2006/main" noGrp="1"/>
          </p:cNvSpPr>
          <p:nvPr/>
        </p:nvSpPr>
        <p:spPr>
          <a:xfrm xmlns:a="http://schemas.openxmlformats.org/drawingml/2006/main">
            <a:off x="609600" y="1066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D32"/>
                </a:solidFill>
                <a:latin typeface="Arial"/>
                <a:ea typeface="Arial"/>
                <a:cs typeface="Arial"/>
              </a:defRPr>
            </a:pPr>
            <a:r>
              <a:rPr sz="3600" b="1">
                <a:solidFill>
                  <a:srgbClr val="142D32"/>
                </a:solidFill>
                <a:latin typeface="Arial"/>
                <a:ea typeface="Arial"/>
                <a:cs typeface="Arial"/>
              </a:rPr>
              <a:t>5. The final check and next step</a:t>
            </a:r>
          </a:p>
        </p:txBody>
      </p:sp>
      <p:sp>
        <p:nvSpPr>
          <p:cNvPr id="4" name="subheader">
            <a:extLst xmlns:a="http://schemas.openxmlformats.org/drawingml/2006/main">
              <a:ext uri="{FF2B5EF4-FFF2-40B4-BE49-F238E27FC236}">
                <a16:creationId xmlns:a16="http://schemas.microsoft.com/office/drawing/2014/main" id="{5E024114-32E0-4398-8F4C-3100F196537D}"/>
              </a:ext>
            </a:extLst>
          </p:cNvPr>
          <p:cNvSpPr>
            <a:spLocks xmlns:a="http://schemas.openxmlformats.org/drawingml/2006/main" noGrp="1"/>
          </p:cNvSpPr>
          <p:nvPr/>
        </p:nvSpPr>
        <p:spPr>
          <a:xfrm xmlns:a="http://schemas.openxmlformats.org/drawingml/2006/main">
            <a:off x="609600" y="18478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53686C"/>
                </a:solidFill>
                <a:latin typeface="Arial"/>
                <a:ea typeface="Arial"/>
                <a:cs typeface="Arial"/>
              </a:defRPr>
            </a:pPr>
            <a:r>
              <a:rPr sz="1875" b="0">
                <a:solidFill>
                  <a:srgbClr val="53686C"/>
                </a:solidFill>
                <a:latin typeface="Arial"/>
                <a:ea typeface="Arial"/>
                <a:cs typeface="Arial"/>
              </a:rPr>
              <a:t>Minutes 18 to 20: show one reply and explain one change you made</a:t>
            </a:r>
          </a:p>
        </p:txBody>
      </p:sp>
      <p:sp>
        <p:nvSpPr>
          <p:cNvPr id="5" name="footer-location">
            <a:extLst xmlns:a="http://schemas.openxmlformats.org/drawingml/2006/main">
              <a:ext uri="{FF2B5EF4-FFF2-40B4-BE49-F238E27FC236}">
                <a16:creationId xmlns:a16="http://schemas.microsoft.com/office/drawing/2014/main" id="{2A4DFC0E-18DD-4494-A5DC-FCDFC504F9C9}"/>
              </a:ext>
            </a:extLst>
          </p:cNvPr>
          <p:cNvSpPr>
            <a:spLocks xmlns:a="http://schemas.openxmlformats.org/drawingml/2006/main" noGrp="1"/>
          </p:cNvSpPr>
          <p:nvPr/>
        </p:nvSpPr>
        <p:spPr>
          <a:xfrm xmlns:a="http://schemas.openxmlformats.org/drawingml/2006/main">
            <a:off x="609600"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53686C"/>
                </a:solidFill>
                <a:latin typeface="Arial"/>
                <a:ea typeface="Arial"/>
                <a:cs typeface="Arial"/>
              </a:defRPr>
            </a:pPr>
            <a:r>
              <a:rPr sz="1350" b="1">
                <a:solidFill>
                  <a:srgbClr val="53686C"/>
                </a:solidFill>
                <a:latin typeface="Arial"/>
                <a:ea typeface="Arial"/>
                <a:cs typeface="Arial"/>
              </a:rPr>
              <a:t>04  Check</a:t>
            </a:r>
          </a:p>
        </p:txBody>
      </p:sp>
      <p:sp>
        <p:nvSpPr>
          <p:cNvPr id="6" name="footer-resource">
            <a:extLst xmlns:a="http://schemas.openxmlformats.org/drawingml/2006/main">
              <a:ext uri="{FF2B5EF4-FFF2-40B4-BE49-F238E27FC236}">
                <a16:creationId xmlns:a16="http://schemas.microsoft.com/office/drawing/2014/main" id="{B9DE8AE4-8109-4F74-9394-BC3C480B5C73}"/>
              </a:ext>
            </a:extLst>
          </p:cNvPr>
          <p:cNvSpPr>
            <a:spLocks xmlns:a="http://schemas.openxmlformats.org/drawingml/2006/main" noGrp="1"/>
          </p:cNvSpPr>
          <p:nvPr/>
        </p:nvSpPr>
        <p:spPr>
          <a:xfrm xmlns:a="http://schemas.openxmlformats.org/drawingml/2006/main">
            <a:off x="6648450" y="6238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087E80"/>
                </a:solidFill>
                <a:latin typeface="Arial"/>
                <a:ea typeface="Arial"/>
                <a:cs typeface="Arial"/>
              </a:defRPr>
            </a:pPr>
            <a:r>
              <a:rPr sz="1350" b="0" u="sng">
                <a:solidFill>
                  <a:srgbClr val="087E80"/>
                </a:solidFill>
                <a:latin typeface="Arial"/>
                <a:ea typeface="Arial"/>
                <a:cs typeface="Arial"/>
                <a:hlinkClick xmlns:ns0="http://schemas.openxmlformats.org/officeDocument/2006/relationships" ns0:id="rIdWorkshopResources"/>
              </a:rPr>
              <a:t>Resources</a:t>
            </a:r>
          </a:p>
        </p:txBody>
      </p:sp>
      <p:sp>
        <p:nvSpPr>
          <p:cNvPr id="7" name="footer-section-slide">
            <a:extLst xmlns:a="http://schemas.openxmlformats.org/drawingml/2006/main">
              <a:ext uri="{FF2B5EF4-FFF2-40B4-BE49-F238E27FC236}">
                <a16:creationId xmlns:a16="http://schemas.microsoft.com/office/drawing/2014/main" id="{303085F0-6F76-4E8D-86C5-81526D52CC77}"/>
              </a:ext>
            </a:extLst>
          </p:cNvPr>
          <p:cNvSpPr>
            <a:spLocks xmlns:a="http://schemas.openxmlformats.org/drawingml/2006/main" noGrp="1"/>
          </p:cNvSpPr>
          <p:nvPr/>
        </p:nvSpPr>
        <p:spPr>
          <a:xfrm xmlns:a="http://schemas.openxmlformats.org/drawingml/2006/main">
            <a:off x="9058275" y="620077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725" b="1">
                <a:solidFill>
                  <a:srgbClr val="087E80"/>
                </a:solidFill>
                <a:latin typeface="Arial"/>
                <a:ea typeface="Arial"/>
                <a:cs typeface="Arial"/>
              </a:defRPr>
            </a:pPr>
            <a:r>
              <a:rPr sz="1725" b="1">
                <a:solidFill>
                  <a:srgbClr val="087E80"/>
                </a:solidFill>
                <a:latin typeface="Arial"/>
                <a:ea typeface="Arial"/>
                <a:cs typeface="Arial"/>
              </a:rPr>
              <a:t>4-1</a:t>
            </a:r>
          </a:p>
        </p:txBody>
      </p:sp>
      <p:sp>
        <p:nvSpPr>
          <p:cNvPr id="8" name="footer-page">
            <a:extLst xmlns:a="http://schemas.openxmlformats.org/drawingml/2006/main">
              <a:ext uri="{FF2B5EF4-FFF2-40B4-BE49-F238E27FC236}">
                <a16:creationId xmlns:a16="http://schemas.microsoft.com/office/drawing/2014/main" id="{552212B5-2F02-4BC9-87FB-5DA7CFB7A49D}"/>
              </a:ext>
            </a:extLst>
          </p:cNvPr>
          <p:cNvSpPr>
            <a:spLocks xmlns:a="http://schemas.openxmlformats.org/drawingml/2006/main" noGrp="1"/>
          </p:cNvSpPr>
          <p:nvPr/>
        </p:nvSpPr>
        <p:spPr>
          <a:xfrm xmlns:a="http://schemas.openxmlformats.org/drawingml/2006/main">
            <a:off x="10477500" y="623887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3686C"/>
                </a:solidFill>
                <a:latin typeface="Arial"/>
                <a:ea typeface="Arial"/>
                <a:cs typeface="Arial"/>
              </a:defRPr>
            </a:pPr>
            <a:r>
              <a:rPr sz="1350" b="0">
                <a:solidFill>
                  <a:srgbClr val="53686C"/>
                </a:solidFill>
                <a:latin typeface="Arial"/>
                <a:ea typeface="Arial"/>
                <a:cs typeface="Arial"/>
              </a:rPr>
              <a:t>06 / 06</a:t>
            </a:r>
          </a:p>
        </p:txBody>
      </p:sp>
      <p:sp>
        <p:nvSpPr>
          <p:cNvPr id="9" name="resource-name-0">
            <a:extLst xmlns:a="http://schemas.openxmlformats.org/drawingml/2006/main">
              <a:ext uri="{FF2B5EF4-FFF2-40B4-BE49-F238E27FC236}">
                <a16:creationId xmlns:a16="http://schemas.microsoft.com/office/drawing/2014/main" id="{C74E0205-F229-4C81-8C24-33CFA8A02BBB}"/>
              </a:ext>
            </a:extLst>
          </p:cNvPr>
          <p:cNvSpPr>
            <a:spLocks xmlns:a="http://schemas.openxmlformats.org/drawingml/2006/main" noGrp="1"/>
          </p:cNvSpPr>
          <p:nvPr/>
        </p:nvSpPr>
        <p:spPr>
          <a:xfrm xmlns:a="http://schemas.openxmlformats.org/drawingml/2006/main">
            <a:off x="609600" y="2800350"/>
            <a:ext cx="426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75" b="1">
                <a:solidFill>
                  <a:srgbClr val="142D32"/>
                </a:solidFill>
                <a:latin typeface="Arial"/>
                <a:ea typeface="Arial"/>
                <a:cs typeface="Arial"/>
              </a:defRPr>
            </a:pPr>
            <a:r>
              <a:rPr sz="2175" b="1">
                <a:solidFill>
                  <a:srgbClr val="142D32"/>
                </a:solidFill>
                <a:latin typeface="Arial"/>
                <a:ea typeface="Arial"/>
                <a:cs typeface="Arial"/>
              </a:rPr>
              <a:t>Does it work?</a:t>
            </a:r>
          </a:p>
        </p:txBody>
      </p:sp>
      <p:sp>
        <p:nvSpPr>
          <p:cNvPr id="10" name="resource-url-0">
            <a:extLst xmlns:a="http://schemas.openxmlformats.org/drawingml/2006/main">
              <a:ext uri="{FF2B5EF4-FFF2-40B4-BE49-F238E27FC236}">
                <a16:creationId xmlns:a16="http://schemas.microsoft.com/office/drawing/2014/main" id="{ADB7A899-40E0-4977-8855-A2B2F2855806}"/>
              </a:ext>
            </a:extLst>
          </p:cNvPr>
          <p:cNvSpPr>
            <a:spLocks xmlns:a="http://schemas.openxmlformats.org/drawingml/2006/main" noGrp="1"/>
          </p:cNvSpPr>
          <p:nvPr/>
        </p:nvSpPr>
        <p:spPr>
          <a:xfrm xmlns:a="http://schemas.openxmlformats.org/drawingml/2006/main">
            <a:off x="5219700" y="2828925"/>
            <a:ext cx="636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087E80"/>
                </a:solidFill>
                <a:latin typeface="Arial"/>
                <a:ea typeface="Arial"/>
                <a:cs typeface="Arial"/>
              </a:defRPr>
            </a:pPr>
            <a:r>
              <a:rPr sz="1800" b="0">
                <a:solidFill>
                  <a:srgbClr val="087E80"/>
                </a:solidFill>
                <a:latin typeface="Arial"/>
                <a:ea typeface="Arial"/>
                <a:cs typeface="Arial"/>
              </a:rPr>
              <a:t>Button opens. Send replies. Try a vague input.</a:t>
            </a:r>
          </a:p>
        </p:txBody>
      </p:sp>
      <p:sp>
        <p:nvSpPr>
          <p:cNvPr id="11" name="resource-name-1">
            <a:extLst xmlns:a="http://schemas.openxmlformats.org/drawingml/2006/main">
              <a:ext uri="{FF2B5EF4-FFF2-40B4-BE49-F238E27FC236}">
                <a16:creationId xmlns:a16="http://schemas.microsoft.com/office/drawing/2014/main" id="{35B14461-F148-40C3-8EEF-110F729E67C8}"/>
              </a:ext>
            </a:extLst>
          </p:cNvPr>
          <p:cNvSpPr>
            <a:spLocks xmlns:a="http://schemas.openxmlformats.org/drawingml/2006/main" noGrp="1"/>
          </p:cNvSpPr>
          <p:nvPr/>
        </p:nvSpPr>
        <p:spPr>
          <a:xfrm xmlns:a="http://schemas.openxmlformats.org/drawingml/2006/main">
            <a:off x="609600" y="3790950"/>
            <a:ext cx="426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75" b="1">
                <a:solidFill>
                  <a:srgbClr val="142D32"/>
                </a:solidFill>
                <a:latin typeface="Arial"/>
                <a:ea typeface="Arial"/>
                <a:cs typeface="Arial"/>
              </a:defRPr>
            </a:pPr>
            <a:r>
              <a:rPr sz="2175" b="1">
                <a:solidFill>
                  <a:srgbClr val="142D32"/>
                </a:solidFill>
                <a:latin typeface="Arial"/>
                <a:ea typeface="Arial"/>
                <a:cs typeface="Arial"/>
              </a:rPr>
              <a:t>If it fails</a:t>
            </a:r>
          </a:p>
        </p:txBody>
      </p:sp>
      <p:sp>
        <p:nvSpPr>
          <p:cNvPr id="12" name="resource-url-1">
            <a:extLst xmlns:a="http://schemas.openxmlformats.org/drawingml/2006/main">
              <a:ext uri="{FF2B5EF4-FFF2-40B4-BE49-F238E27FC236}">
                <a16:creationId xmlns:a16="http://schemas.microsoft.com/office/drawing/2014/main" id="{A8AB45E3-170F-4E9E-B959-FAA2DB0DA639}"/>
              </a:ext>
            </a:extLst>
          </p:cNvPr>
          <p:cNvSpPr>
            <a:spLocks xmlns:a="http://schemas.openxmlformats.org/drawingml/2006/main" noGrp="1"/>
          </p:cNvSpPr>
          <p:nvPr/>
        </p:nvSpPr>
        <p:spPr>
          <a:xfrm xmlns:a="http://schemas.openxmlformats.org/drawingml/2006/main">
            <a:off x="5219700" y="3819525"/>
            <a:ext cx="636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087E80"/>
                </a:solidFill>
                <a:latin typeface="Arial"/>
                <a:ea typeface="Arial"/>
                <a:cs typeface="Arial"/>
              </a:defRPr>
            </a:pPr>
            <a:r>
              <a:rPr sz="1800" b="0">
                <a:solidFill>
                  <a:srgbClr val="087E80"/>
                </a:solidFill>
                <a:latin typeface="Arial"/>
                <a:ea typeface="Arial"/>
                <a:cs typeface="Arial"/>
              </a:rPr>
              <a:t>401: key   429: quota or busy   Slow: demo mode</a:t>
            </a:r>
          </a:p>
        </p:txBody>
      </p:sp>
      <p:sp>
        <p:nvSpPr>
          <p:cNvPr id="13" name="resource-name-2">
            <a:extLst xmlns:a="http://schemas.openxmlformats.org/drawingml/2006/main">
              <a:ext uri="{FF2B5EF4-FFF2-40B4-BE49-F238E27FC236}">
                <a16:creationId xmlns:a16="http://schemas.microsoft.com/office/drawing/2014/main" id="{D9568C74-1ED3-48FF-9A1F-51AA024C9B1A}"/>
              </a:ext>
            </a:extLst>
          </p:cNvPr>
          <p:cNvSpPr>
            <a:spLocks xmlns:a="http://schemas.openxmlformats.org/drawingml/2006/main" noGrp="1"/>
          </p:cNvSpPr>
          <p:nvPr/>
        </p:nvSpPr>
        <p:spPr>
          <a:xfrm xmlns:a="http://schemas.openxmlformats.org/drawingml/2006/main">
            <a:off x="609600" y="4781550"/>
            <a:ext cx="426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75" b="1">
                <a:solidFill>
                  <a:srgbClr val="142D32"/>
                </a:solidFill>
                <a:latin typeface="Arial"/>
                <a:ea typeface="Arial"/>
                <a:cs typeface="Arial"/>
              </a:defRPr>
            </a:pPr>
            <a:r>
              <a:rPr sz="2175" b="1">
                <a:solidFill>
                  <a:srgbClr val="142D32"/>
                </a:solidFill>
                <a:latin typeface="Arial"/>
                <a:ea typeface="Arial"/>
                <a:cs typeface="Arial"/>
              </a:rPr>
              <a:t>Take it further</a:t>
            </a:r>
          </a:p>
        </p:txBody>
      </p:sp>
      <p:sp>
        <p:nvSpPr>
          <p:cNvPr id="14" name="resource-url-2">
            <a:extLst xmlns:a="http://schemas.openxmlformats.org/drawingml/2006/main">
              <a:ext uri="{FF2B5EF4-FFF2-40B4-BE49-F238E27FC236}">
                <a16:creationId xmlns:a16="http://schemas.microsoft.com/office/drawing/2014/main" id="{70C3C5DC-6A4C-465A-B0A7-04CAC4B3821F}"/>
              </a:ext>
            </a:extLst>
          </p:cNvPr>
          <p:cNvSpPr>
            <a:spLocks xmlns:a="http://schemas.openxmlformats.org/drawingml/2006/main" noGrp="1"/>
          </p:cNvSpPr>
          <p:nvPr/>
        </p:nvSpPr>
        <p:spPr>
          <a:xfrm xmlns:a="http://schemas.openxmlformats.org/drawingml/2006/main">
            <a:off x="5219700" y="4810125"/>
            <a:ext cx="636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087E80"/>
                </a:solidFill>
                <a:latin typeface="Arial"/>
                <a:ea typeface="Arial"/>
                <a:cs typeface="Arial"/>
              </a:defRPr>
            </a:pPr>
            <a:r>
              <a:rPr sz="1800" b="0">
                <a:solidFill>
                  <a:srgbClr val="087E80"/>
                </a:solidFill>
                <a:latin typeface="Arial"/>
                <a:ea typeface="Arial"/>
                <a:cs typeface="Arial"/>
              </a:rPr>
              <a:t>README: setup, code map, and hosting notes</a:t>
            </a:r>
          </a:p>
        </p:txBody>
      </p:sp>
      <p:sp>
        <p:nvSpPr>
          <p:cNvPr id="16" name="publish-note">
            <a:extLst xmlns:a="http://schemas.openxmlformats.org/drawingml/2006/main">
              <a:ext uri="{FF2B5EF4-FFF2-40B4-BE49-F238E27FC236}">
                <a16:creationId xmlns:a16="http://schemas.microsoft.com/office/drawing/2014/main" id="{DBACC70C-5D55-430B-8286-BD1D55241652}"/>
              </a:ext>
            </a:extLst>
          </p:cNvPr>
          <p:cNvSpPr>
            <a:spLocks xmlns:a="http://schemas.openxmlformats.org/drawingml/2006/main" noGrp="1"/>
          </p:cNvSpPr>
          <p:nvPr/>
        </p:nvSpPr>
        <p:spPr>
          <a:xfrm xmlns:a="http://schemas.openxmlformats.org/drawingml/2006/main">
            <a:off x="609600" y="55435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087E80"/>
                </a:solidFill>
                <a:latin typeface="Arial"/>
                <a:ea typeface="Arial"/>
                <a:cs typeface="Arial"/>
              </a:defRPr>
            </a:pPr>
            <a:r>
              <a:rPr sz="1725">
                <a:solidFill>
                  <a:srgbClr val="087E80"/>
                </a:solidFill>
                <a:latin typeface="Arial"/>
                <a:ea typeface="Arial"/>
                <a:cs typeface="Arial"/>
              </a:rPr>
              <a:t>GitHub preview = fixed demo. Live AI = hosted backend + private key.</a:t>
            </a:r>
          </a:p>
        </p:txBody>
      </p:sp>
    </p:spTree>
    <p:extLst>
      <p:ext uri="{BB962C8B-B14F-4D97-AF65-F5344CB8AC3E}">
        <p14:creationId xmlns:p14="http://schemas.microsoft.com/office/powerpoint/2010/main" val="20922723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2026-10-01T00:09:44.4620000Z</dcterms:created>
  <dcterms:modified xsi:type="dcterms:W3CDTF">2026-10-01T00:09:44.4620000Z</dcterms:modified>
</coreProperties>
</file>