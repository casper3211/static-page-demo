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c020fad7854b1e" /><Relationship Type="http://schemas.openxmlformats.org/officeDocument/2006/relationships/extended-properties" Target="/docProps/app.xml" Id="Ra64a5eefbd4a45cc" /><Relationship Type="http://schemas.openxmlformats.org/officeDocument/2006/relationships/officeDocument" Target="/ppt/presentation.xml" Id="R84cf19f2329641f3" /></Relationships>
</file>

<file path=ppt/presentation.xml><?xml version="1.0" encoding="utf-8"?>
<p:presentation xmlns:p="http://schemas.openxmlformats.org/presentationml/2006/main">
  <p:sldMasterIdLst>
    <p:sldMasterId xmlns:r="http://schemas.openxmlformats.org/officeDocument/2006/relationships" id="2147483648" r:id="Re37893633a9b4bf4"/>
  </p:sldMasterIdLst>
  <p:notesMasterIdLst>
    <p:notesMasterId xmlns:r="http://schemas.openxmlformats.org/officeDocument/2006/relationships" r:id="Rbe711dd56d4f4d96"/>
  </p:notesMasterIdLst>
  <p:sldIdLst>
    <p:sldId xmlns:r="http://schemas.openxmlformats.org/officeDocument/2006/relationships" id="256" r:id="R605c54fb7a3049f0"/>
    <p:sldId xmlns:r="http://schemas.openxmlformats.org/officeDocument/2006/relationships" id="257" r:id="R7d4cce444acd4303"/>
    <p:sldId xmlns:r="http://schemas.openxmlformats.org/officeDocument/2006/relationships" id="258" r:id="Ra40cc0272eb84334"/>
    <p:sldId xmlns:r="http://schemas.openxmlformats.org/officeDocument/2006/relationships" id="259" r:id="Rde8510e025e744da"/>
    <p:sldId xmlns:r="http://schemas.openxmlformats.org/officeDocument/2006/relationships" id="260" r:id="Rb237104899bf4cd6"/>
    <p:sldId xmlns:r="http://schemas.openxmlformats.org/officeDocument/2006/relationships" id="261" r:id="R7824bc366aa748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a14867687f441d" /><Relationship Type="http://schemas.openxmlformats.org/officeDocument/2006/relationships/slideMaster" Target="/ppt/slideMasters/slideMaster1.xml" Id="Re37893633a9b4bf4" /><Relationship Type="http://schemas.openxmlformats.org/officeDocument/2006/relationships/notesMaster" Target="/ppt/notesMasters/notesMaster1.xml" Id="Rbe711dd56d4f4d96" /><Relationship Type="http://schemas.openxmlformats.org/officeDocument/2006/relationships/presProps" Target="/ppt/presProps.xml" Id="R55540a7cf2ec489e" /><Relationship Type="http://schemas.openxmlformats.org/officeDocument/2006/relationships/tableStyles" Target="/ppt/tableStyles.xml" Id="R0f2590026dff4531" /><Relationship Type="http://schemas.openxmlformats.org/officeDocument/2006/relationships/slide" Target="/ppt/slides/slide1.xml" Id="R605c54fb7a3049f0" /><Relationship Type="http://schemas.openxmlformats.org/officeDocument/2006/relationships/slide" Target="/ppt/slides/slide2.xml" Id="R7d4cce444acd4303" /><Relationship Type="http://schemas.openxmlformats.org/officeDocument/2006/relationships/slide" Target="/ppt/slides/slide3.xml" Id="Ra40cc0272eb84334" /><Relationship Type="http://schemas.openxmlformats.org/officeDocument/2006/relationships/slide" Target="/ppt/slides/slide4.xml" Id="Rde8510e025e744da" /><Relationship Type="http://schemas.openxmlformats.org/officeDocument/2006/relationships/slide" Target="/ppt/slides/slide5.xml" Id="Rb237104899bf4cd6" /><Relationship Type="http://schemas.openxmlformats.org/officeDocument/2006/relationships/slide" Target="/ppt/slides/slide6.xml" Id="R7824bc366aa748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be206e5d9046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cb2335bcec4940" /><Relationship Type="http://schemas.openxmlformats.org/officeDocument/2006/relationships/notesMaster" Target="/ppt/notesMasters/notesMaster1.xml" Id="Radff59e062d943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63759768d348e5" /><Relationship Type="http://schemas.openxmlformats.org/officeDocument/2006/relationships/notesMaster" Target="/ppt/notesMasters/notesMaster1.xml" Id="Rd76be2d6006044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0539c529b04bfe" /><Relationship Type="http://schemas.openxmlformats.org/officeDocument/2006/relationships/notesMaster" Target="/ppt/notesMasters/notesMaster1.xml" Id="R12fb0b1e2a0c45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b44b1c5bdf4e25" /><Relationship Type="http://schemas.openxmlformats.org/officeDocument/2006/relationships/notesMaster" Target="/ppt/notesMasters/notesMaster1.xml" Id="R5f15029da9c44c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a1751cb83ad49ff" /><Relationship Type="http://schemas.openxmlformats.org/officeDocument/2006/relationships/notesMaster" Target="/ppt/notesMasters/notesMaster1.xml" Id="Rfe2ebf34ca5843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a56afd02024c6b" /><Relationship Type="http://schemas.openxmlformats.org/officeDocument/2006/relationships/notesMaster" Target="/ppt/notesMasters/notesMaster1.xml" Id="R7f0a38a9684e4f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2 minutes. Before class, install Node.js 22 or newer, sign into OpenRouter, and download the repository. Show the bot and have the room vote on the two choices. The screenshot is a fixed demo, labeled in the interface. Live mode uses the selected OpenRouter model. Explain: the browser sends a theme to our /api/chat route, the server calls OpenRouter, and the text returns to the browser. This is API integration. Source: https://openrouter.ai/docs/quickstart.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3 minutes. Download the repository using Code &gt; Download ZIP and extract it before the session. Open ai-would-you-rather/project in your editor. At OpenRouter settings/keys, create a key and copy it privately. Copy .env.example to .env, replace paste_your_key_here with the key, and save. Ensure it is not .env.txt. Keep DEMO_MODE=false for real calls. The model is already set to nvidia/nemotron-3-ultra-550b-a55b:free. Never paste a private owner key into browser HTML or commit .env. The .gitignore already excludes it. For offline practice, set DEMO_MODE=true. Sources: https://openrouter.ai/nvidia/nemotron-3-ultra-550b-a55b:free?view=api; https://openrouter.ai/docs/quickstart.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4 minutes. In the editor select Terminal &gt; New Terminal and confirm the folder is project. Run node --version to check Node 22 or newer. Run node --env-file=.env server.mjs on one line. No npm install is needed. Open http://127.0.0.1:4320 and check the badge says LIVE MODE. Click the floating button, type a theme and send. In server.mjs show MODEL, SYSTEM_PROMPT, and fetch(ENDPOINT). The endpoint is https://openrouter.ai/api/v1/chat/completions. Authorization: Bearer carries the private key. The messages array includes system instructions and the user theme. The server reads choices[0].message.content and returns {reply}. Stop with Ctrl+C. Source: https://openrouter.ai/docs/quickstart.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4 minutes. Work on a copy of an existing single-file website. Copy the complete BOT CSS style block into head. Copy BOT HTML and then BOT SCRIPT before the closing body tag. Save the combined file as project/index.html. Refresh the local server URL and send a theme again. The CSS uses position:fixed, bottom and right for the floating button. The browser sends JSON {message} to /api/chat and displays data.reply as text. The server reads the key from its environment, not from the HTML. Optional full-page layout: /bot. The provided server serves its HTML routes only; multi-file websites require explicit public static-file serving. The current app sends only the latest user message. GitHub Pages is static and needs a separate backend for public live AI. Sources: https://openrouter.ai/docs/quickstart; https://docs.github.com/en/pages/getting-started-with-github-pages/what-is-github-pages.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5 minutes. Pair up: one person edits and the other tests. The default prompt asks for two funny balanced choices labeled A and B, a final question, and under 70 words. Try changing one instruction, such as food-only themes or extremely silly choices. Predict the difference before sending the same theme again. Save, stop with Ctrl+C, and rerun node --env-file=.env server.mjs. HTML label changes need only a refresh. In demo mode the response stays fixed, so test prompt effects in live mode. Keep examples friendly and avoid personal information. Each request is independent. Ask partners whether both options are interesting enough to debate.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timing: about 2 minutes. Each pair shows one question and the room votes A or B. Ask which prompt edit made the dilemma more fun. If the request fails, 401 means check the key, 429 means wait or inspect quota, and timeout means retry later or use DEMO_MODE=true and restart. Demo mode is explicitly labeled and does not call AI. No resources slide is needed. Stop the server with Ctrl+C after use. The overall session remains approximately 20 minutes with setup prerequisites complete. Sources for troubleshooting: https://openrouter.ai/docs/api-reference/errors; https://openrouter.ai/docs/api_reference/limits.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6638be9b1f49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445111f7d34277" /><Relationship Type="http://schemas.openxmlformats.org/officeDocument/2006/relationships/slideLayout" Target="/ppt/slideLayouts/slideLayout1.xml" Id="Ra392dd3d624f41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92dd3d624f41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160a931581244c9a"/><Relationship Type="http://schemas.openxmlformats.org/officeDocument/2006/relationships/image" Target="/ppt/media/image.png" Id="R4a8e77505ef04838"/><Relationship Type="http://schemas.openxmlformats.org/officeDocument/2006/relationships/notesSlide" Target="/ppt/notesSlides/notesSlide1.xml" Id="R827f6a4f2a1d4bbb"/></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ba7e7b9a7a0048b1"/><Relationship Type="http://schemas.openxmlformats.org/officeDocument/2006/relationships/notesSlide" Target="/ppt/notesSlides/notesSlide2.xml" Id="Rfd67814992324031"/></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e55ccd11273f4f46"/><Relationship Type="http://schemas.openxmlformats.org/officeDocument/2006/relationships/notesSlide" Target="/ppt/notesSlides/notesSlide3.xml" Id="Rdaae634c5f3046d1"/></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6f5d32e411fc45f1"/><Relationship Type="http://schemas.openxmlformats.org/officeDocument/2006/relationships/notesSlide" Target="/ppt/notesSlides/notesSlide4.xml" Id="R24e725bbb1264052"/></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2e3638c792fc4228"/><Relationship Type="http://schemas.openxmlformats.org/officeDocument/2006/relationships/notesSlide" Target="/ppt/notesSlides/notesSlide5.xml" Id="R6594471ad7b14d33"/></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ea5c424823fd49c5"/><Relationship Type="http://schemas.openxmlformats.org/officeDocument/2006/relationships/notesSlide" Target="/ppt/notesSlides/notesSlide6.xml" Id="R1ed447061b884e11"/></Relationships>
</file>

<file path=ppt/slides/slide1.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3" name="club">
            <a:extLst xmlns:a="http://schemas.openxmlformats.org/drawingml/2006/main">
              <a:ext uri="{FF2B5EF4-FFF2-40B4-BE49-F238E27FC236}">
                <a16:creationId xmlns:a16="http://schemas.microsoft.com/office/drawing/2014/main" id="{A9215153-0FD5-4F3F-8162-09A1F0DEBC35}"/>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BD7D82B6-E7A8-45D2-A5D4-7721C5DD9A58}"/>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Would you rather…?</a:t>
            </a:r>
          </a:p>
        </p:txBody>
      </p:sp>
      <p:sp>
        <p:nvSpPr>
          <p:cNvPr id="4" name="subheader">
            <a:extLst xmlns:a="http://schemas.openxmlformats.org/drawingml/2006/main">
              <a:ext uri="{FF2B5EF4-FFF2-40B4-BE49-F238E27FC236}">
                <a16:creationId xmlns:a16="http://schemas.microsoft.com/office/drawing/2014/main" id="{5EDF28EE-6694-41DA-BB96-8E431C8D7D72}"/>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A small AI game for your website</a:t>
            </a:r>
          </a:p>
        </p:txBody>
      </p:sp>
      <p:sp>
        <p:nvSpPr>
          <p:cNvPr id="8" name="footer-page">
            <a:extLst xmlns:a="http://schemas.openxmlformats.org/drawingml/2006/main">
              <a:ext uri="{FF2B5EF4-FFF2-40B4-BE49-F238E27FC236}">
                <a16:creationId xmlns:a16="http://schemas.microsoft.com/office/drawing/2014/main" id="{647787DC-8A38-4C7C-AA3A-9F55F3C6208B}"/>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01 / 06</a:t>
            </a:r>
          </a:p>
        </p:txBody>
      </p:sp>
      <p:sp>
        <p:nvSpPr>
          <p:cNvPr id="9" name="demo-steps-title">
            <a:extLst xmlns:a="http://schemas.openxmlformats.org/drawingml/2006/main">
              <a:ext uri="{FF2B5EF4-FFF2-40B4-BE49-F238E27FC236}">
                <a16:creationId xmlns:a16="http://schemas.microsoft.com/office/drawing/2014/main" id="{7569D73F-4681-4595-B0AF-71953D026774}"/>
              </a:ext>
            </a:extLst>
          </p:cNvPr>
          <p:cNvSpPr>
            <a:spLocks xmlns:a="http://schemas.openxmlformats.org/drawingml/2006/main" noGrp="1"/>
          </p:cNvSpPr>
          <p:nvPr/>
        </p:nvSpPr>
        <p:spPr>
          <a:xfrm xmlns:a="http://schemas.openxmlformats.org/drawingml/2006/main">
            <a:off x="609600" y="2819400"/>
            <a:ext cx="3981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087E80"/>
                </a:solidFill>
                <a:latin typeface="Arial"/>
                <a:ea typeface="Arial"/>
                <a:cs typeface="Arial"/>
              </a:defRPr>
            </a:pPr>
            <a:r>
              <a:rPr sz="1425" b="1">
                <a:solidFill>
                  <a:srgbClr val="087E80"/>
                </a:solidFill>
                <a:latin typeface="Arial"/>
                <a:ea typeface="Arial"/>
                <a:cs typeface="Arial"/>
              </a:rPr>
              <a:t>THE IDEA</a:t>
            </a:r>
          </a:p>
        </p:txBody>
      </p:sp>
      <p:sp>
        <p:nvSpPr>
          <p:cNvPr id="10" name="demo-steps">
            <a:extLst xmlns:a="http://schemas.openxmlformats.org/drawingml/2006/main">
              <a:ext uri="{FF2B5EF4-FFF2-40B4-BE49-F238E27FC236}">
                <a16:creationId xmlns:a16="http://schemas.microsoft.com/office/drawing/2014/main" id="{7526CBD2-FA9F-4747-8CF9-8D7E5F87AFFB}"/>
              </a:ext>
            </a:extLst>
          </p:cNvPr>
          <p:cNvSpPr>
            <a:spLocks xmlns:a="http://schemas.openxmlformats.org/drawingml/2006/main" noGrp="1"/>
          </p:cNvSpPr>
          <p:nvPr/>
        </p:nvSpPr>
        <p:spPr>
          <a:xfrm xmlns:a="http://schemas.openxmlformats.org/drawingml/2006/main">
            <a:off x="609600" y="3429000"/>
            <a:ext cx="4162425"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Pick a theme.</a:t>
            </a:r>
          </a:p>
          <a:p xmlns:a="http://schemas.openxmlformats.org/drawingml/2006/main">
            <a:r>
              <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Get two funny choices.</a:t>
            </a:r>
          </a:p>
          <a:p xmlns:a="http://schemas.openxmlformats.org/drawingml/2006/main">
            <a:r>
              <a:t/>
            </a:r>
          </a:p>
          <a:p xmlns:a="http://schemas.openxmlformats.org/drawingml/2006/main">
            <a:pPr algn="l">
              <a:buNone/>
              <a:defRPr sz="2175" b="0">
                <a:solidFill>
                  <a:srgbClr val="142D32"/>
                </a:solidFill>
                <a:latin typeface="Arial"/>
                <a:ea typeface="Arial"/>
                <a:cs typeface="Arial"/>
              </a:defRPr>
            </a:pPr>
            <a:r>
              <a:rPr sz="2175" b="0">
                <a:solidFill>
                  <a:srgbClr val="142D32"/>
                </a:solidFill>
                <a:latin typeface="Arial"/>
                <a:ea typeface="Arial"/>
                <a:cs typeface="Arial"/>
              </a:rPr>
              <a:t>Choose one and explain why.</a:t>
            </a:r>
          </a:p>
        </p:txBody>
      </p:sp>
      <p:sp>
        <p:nvSpPr>
          <p:cNvPr id="11" name="demo-area">
            <a:extLst xmlns:a="http://schemas.openxmlformats.org/drawingml/2006/main">
              <a:ext uri="{FF2B5EF4-FFF2-40B4-BE49-F238E27FC236}">
                <a16:creationId xmlns:a16="http://schemas.microsoft.com/office/drawing/2014/main" id="{C01B722D-1CED-414A-A9F2-64160398C822}"/>
              </a:ext>
            </a:extLst>
          </p:cNvPr>
          <p:cNvSpPr>
            <a:spLocks xmlns:a="http://schemas.openxmlformats.org/drawingml/2006/main" noGrp="1"/>
          </p:cNvSpPr>
          <p:nvPr/>
        </p:nvSpPr>
        <p:spPr>
          <a:xfrm xmlns:a="http://schemas.openxmlformats.org/drawingml/2006/main">
            <a:off x="5257800" y="2857500"/>
            <a:ext cx="63246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0">
                <a:solidFill>
                  <a:srgbClr val="53686C"/>
                </a:solidFill>
                <a:latin typeface="Arial"/>
                <a:ea typeface="Arial"/>
                <a:cs typeface="Arial"/>
              </a:defRPr>
            </a:pPr>
            <a:r>
              <a:rPr sz="2175" b="0">
                <a:solidFill>
                  <a:srgbClr val="53686C"/>
                </a:solidFill>
                <a:latin typeface="Arial"/>
                <a:ea typeface="Arial"/>
                <a:cs typeface="Arial"/>
              </a:rPr>
              <a:t/>
            </a:r>
          </a:p>
        </p:txBody>
      </p:sp>
      <p:sp>
        <p:nvSpPr>
          <p:cNvPr id="12" name="demo-question">
            <a:extLst xmlns:a="http://schemas.openxmlformats.org/drawingml/2006/main">
              <a:ext uri="{FF2B5EF4-FFF2-40B4-BE49-F238E27FC236}">
                <a16:creationId xmlns:a16="http://schemas.microsoft.com/office/drawing/2014/main" id="{DF230DE5-B487-426F-8BFE-64401CA74FD7}"/>
              </a:ext>
            </a:extLst>
          </p:cNvPr>
          <p:cNvSpPr>
            <a:spLocks xmlns:a="http://schemas.openxmlformats.org/drawingml/2006/main" noGrp="1"/>
          </p:cNvSpPr>
          <p:nvPr/>
        </p:nvSpPr>
        <p:spPr>
          <a:xfrm xmlns:a="http://schemas.openxmlformats.org/drawingml/2006/main">
            <a:off x="5257800" y="5534025"/>
            <a:ext cx="632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1">
                <a:solidFill>
                  <a:srgbClr val="087E80"/>
                </a:solidFill>
                <a:latin typeface="Arial"/>
                <a:ea typeface="Arial"/>
                <a:cs typeface="Arial"/>
              </a:defRPr>
            </a:pPr>
            <a:r>
              <a:rPr sz="1800" b="1">
                <a:solidFill>
                  <a:srgbClr val="087E80"/>
                </a:solidFill>
                <a:latin typeface="Arial"/>
                <a:ea typeface="Arial"/>
                <a:cs typeface="Arial"/>
              </a:rPr>
              <a:t>Try: “Give me a question about superpowers.”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a8e77505ef04838"/>
          <a:stretch xmlns:a="http://schemas.openxmlformats.org/drawingml/2006/main"/>
        </p:blipFill>
        <p:spPr>
          <a:xfrm xmlns:a="http://schemas.openxmlformats.org/drawingml/2006/main">
            <a:off x="5991225" y="2381250"/>
            <a:ext cx="4648200" cy="2905125"/>
          </a:xfrm>
          <a:prstGeom xmlns:a="http://schemas.openxmlformats.org/drawingml/2006/main" prst="rect">
            <a:avLst/>
          </a:prstGeom>
        </p:spPr>
      </p:pic>
    </p:spTree>
    <p:extLst>
      <p:ext uri="{BB962C8B-B14F-4D97-AF65-F5344CB8AC3E}">
        <p14:creationId xmlns:p14="http://schemas.microsoft.com/office/powerpoint/2010/main" val="1027706640"/>
      </p:ext>
    </p:extLst>
  </p:cSld>
</p:sld>
</file>

<file path=ppt/slides/slide2.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21" name="club">
            <a:extLst xmlns:a="http://schemas.openxmlformats.org/drawingml/2006/main">
              <a:ext uri="{FF2B5EF4-FFF2-40B4-BE49-F238E27FC236}">
                <a16:creationId xmlns:a16="http://schemas.microsoft.com/office/drawing/2014/main" id="{366D60CB-0E69-4059-85C5-9B5236F59499}"/>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EF48F320-DD91-4BBA-B862-5084F2F45AD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1. Your API key</a:t>
            </a:r>
          </a:p>
        </p:txBody>
      </p:sp>
      <p:sp>
        <p:nvSpPr>
          <p:cNvPr id="4" name="subheader">
            <a:extLst xmlns:a="http://schemas.openxmlformats.org/drawingml/2006/main">
              <a:ext uri="{FF2B5EF4-FFF2-40B4-BE49-F238E27FC236}">
                <a16:creationId xmlns:a16="http://schemas.microsoft.com/office/drawing/2014/main" id="{5D6446FB-4749-41AC-9A7B-5675002E5DC1}"/>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Open ai-would-you-rather/project in your editor</a:t>
            </a:r>
          </a:p>
        </p:txBody>
      </p:sp>
      <p:sp>
        <p:nvSpPr>
          <p:cNvPr id="8" name="footer-page">
            <a:extLst xmlns:a="http://schemas.openxmlformats.org/drawingml/2006/main">
              <a:ext uri="{FF2B5EF4-FFF2-40B4-BE49-F238E27FC236}">
                <a16:creationId xmlns:a16="http://schemas.microsoft.com/office/drawing/2014/main" id="{C8408FA6-E463-4CDD-B6F5-5DA963C5DA59}"/>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02 / 06</a:t>
            </a:r>
          </a:p>
        </p:txBody>
      </p:sp>
      <p:sp>
        <p:nvSpPr>
          <p:cNvPr id="9" name="number-0">
            <a:extLst xmlns:a="http://schemas.openxmlformats.org/drawingml/2006/main">
              <a:ext uri="{FF2B5EF4-FFF2-40B4-BE49-F238E27FC236}">
                <a16:creationId xmlns:a16="http://schemas.microsoft.com/office/drawing/2014/main" id="{51BDE694-C556-45C9-8B16-C8598B27536B}"/>
              </a:ext>
            </a:extLst>
          </p:cNvPr>
          <p:cNvSpPr>
            <a:spLocks xmlns:a="http://schemas.openxmlformats.org/drawingml/2006/main" noGrp="1"/>
          </p:cNvSpPr>
          <p:nvPr/>
        </p:nvSpPr>
        <p:spPr>
          <a:xfrm xmlns:a="http://schemas.openxmlformats.org/drawingml/2006/main">
            <a:off x="609600" y="276225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01</a:t>
            </a:r>
          </a:p>
        </p:txBody>
      </p:sp>
      <p:sp>
        <p:nvSpPr>
          <p:cNvPr id="10" name="label-0">
            <a:extLst xmlns:a="http://schemas.openxmlformats.org/drawingml/2006/main">
              <a:ext uri="{FF2B5EF4-FFF2-40B4-BE49-F238E27FC236}">
                <a16:creationId xmlns:a16="http://schemas.microsoft.com/office/drawing/2014/main" id="{E901CE81-5B34-4D37-86AA-33C33C0D7159}"/>
              </a:ext>
            </a:extLst>
          </p:cNvPr>
          <p:cNvSpPr>
            <a:spLocks xmlns:a="http://schemas.openxmlformats.org/drawingml/2006/main" noGrp="1"/>
          </p:cNvSpPr>
          <p:nvPr/>
        </p:nvSpPr>
        <p:spPr>
          <a:xfrm xmlns:a="http://schemas.openxmlformats.org/drawingml/2006/main">
            <a:off x="1638300" y="276225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142D32"/>
                </a:solidFill>
                <a:latin typeface="Arial"/>
                <a:ea typeface="Arial"/>
                <a:cs typeface="Arial"/>
              </a:defRPr>
            </a:pPr>
            <a:r>
              <a:rPr sz="2250" b="1">
                <a:solidFill>
                  <a:srgbClr val="142D32"/>
                </a:solidFill>
                <a:latin typeface="Arial"/>
                <a:ea typeface="Arial"/>
                <a:cs typeface="Arial"/>
              </a:rPr>
              <a:t>Create a key</a:t>
            </a:r>
          </a:p>
        </p:txBody>
      </p:sp>
      <p:sp>
        <p:nvSpPr>
          <p:cNvPr id="11" name="detail-0">
            <a:extLst xmlns:a="http://schemas.openxmlformats.org/drawingml/2006/main">
              <a:ext uri="{FF2B5EF4-FFF2-40B4-BE49-F238E27FC236}">
                <a16:creationId xmlns:a16="http://schemas.microsoft.com/office/drawing/2014/main" id="{BD0ED1E0-713C-4C6D-929D-E0FBED8AF2E8}"/>
              </a:ext>
            </a:extLst>
          </p:cNvPr>
          <p:cNvSpPr>
            <a:spLocks xmlns:a="http://schemas.openxmlformats.org/drawingml/2006/main" noGrp="1"/>
          </p:cNvSpPr>
          <p:nvPr/>
        </p:nvSpPr>
        <p:spPr>
          <a:xfrm xmlns:a="http://schemas.openxmlformats.org/drawingml/2006/main">
            <a:off x="4476750" y="279082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openrouter.ai/settings/keys</a:t>
            </a:r>
          </a:p>
        </p:txBody>
      </p:sp>
      <p:sp>
        <p:nvSpPr>
          <p:cNvPr id="12" name="number-1">
            <a:extLst xmlns:a="http://schemas.openxmlformats.org/drawingml/2006/main">
              <a:ext uri="{FF2B5EF4-FFF2-40B4-BE49-F238E27FC236}">
                <a16:creationId xmlns:a16="http://schemas.microsoft.com/office/drawing/2014/main" id="{AD5A7334-AE57-4202-9AFA-95A3587926EB}"/>
              </a:ext>
            </a:extLst>
          </p:cNvPr>
          <p:cNvSpPr>
            <a:spLocks xmlns:a="http://schemas.openxmlformats.org/drawingml/2006/main" noGrp="1"/>
          </p:cNvSpPr>
          <p:nvPr/>
        </p:nvSpPr>
        <p:spPr>
          <a:xfrm xmlns:a="http://schemas.openxmlformats.org/drawingml/2006/main">
            <a:off x="609600" y="347662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02</a:t>
            </a:r>
          </a:p>
        </p:txBody>
      </p:sp>
      <p:sp>
        <p:nvSpPr>
          <p:cNvPr id="13" name="label-1">
            <a:extLst xmlns:a="http://schemas.openxmlformats.org/drawingml/2006/main">
              <a:ext uri="{FF2B5EF4-FFF2-40B4-BE49-F238E27FC236}">
                <a16:creationId xmlns:a16="http://schemas.microsoft.com/office/drawing/2014/main" id="{103D2AB4-FD59-4411-8C36-0103588CA6F2}"/>
              </a:ext>
            </a:extLst>
          </p:cNvPr>
          <p:cNvSpPr>
            <a:spLocks xmlns:a="http://schemas.openxmlformats.org/drawingml/2006/main" noGrp="1"/>
          </p:cNvSpPr>
          <p:nvPr/>
        </p:nvSpPr>
        <p:spPr>
          <a:xfrm xmlns:a="http://schemas.openxmlformats.org/drawingml/2006/main">
            <a:off x="1638300" y="347662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142D32"/>
                </a:solidFill>
                <a:latin typeface="Arial"/>
                <a:ea typeface="Arial"/>
                <a:cs typeface="Arial"/>
              </a:defRPr>
            </a:pPr>
            <a:r>
              <a:rPr sz="2250" b="1">
                <a:solidFill>
                  <a:srgbClr val="142D32"/>
                </a:solidFill>
                <a:latin typeface="Arial"/>
                <a:ea typeface="Arial"/>
                <a:cs typeface="Arial"/>
              </a:rPr>
              <a:t>Copy the file</a:t>
            </a:r>
          </a:p>
        </p:txBody>
      </p:sp>
      <p:sp>
        <p:nvSpPr>
          <p:cNvPr id="14" name="detail-1">
            <a:extLst xmlns:a="http://schemas.openxmlformats.org/drawingml/2006/main">
              <a:ext uri="{FF2B5EF4-FFF2-40B4-BE49-F238E27FC236}">
                <a16:creationId xmlns:a16="http://schemas.microsoft.com/office/drawing/2014/main" id="{A5914C25-27E7-47D8-9ACC-EFCE8E16BC3D}"/>
              </a:ext>
            </a:extLst>
          </p:cNvPr>
          <p:cNvSpPr>
            <a:spLocks xmlns:a="http://schemas.openxmlformats.org/drawingml/2006/main" noGrp="1"/>
          </p:cNvSpPr>
          <p:nvPr/>
        </p:nvSpPr>
        <p:spPr>
          <a:xfrm xmlns:a="http://schemas.openxmlformats.org/drawingml/2006/main">
            <a:off x="4476750" y="350520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.env.example becomes .env</a:t>
            </a:r>
          </a:p>
        </p:txBody>
      </p:sp>
      <p:sp>
        <p:nvSpPr>
          <p:cNvPr id="15" name="number-2">
            <a:extLst xmlns:a="http://schemas.openxmlformats.org/drawingml/2006/main">
              <a:ext uri="{FF2B5EF4-FFF2-40B4-BE49-F238E27FC236}">
                <a16:creationId xmlns:a16="http://schemas.microsoft.com/office/drawing/2014/main" id="{48C15E34-16CE-4F28-B10B-104872F8D180}"/>
              </a:ext>
            </a:extLst>
          </p:cNvPr>
          <p:cNvSpPr>
            <a:spLocks xmlns:a="http://schemas.openxmlformats.org/drawingml/2006/main" noGrp="1"/>
          </p:cNvSpPr>
          <p:nvPr/>
        </p:nvSpPr>
        <p:spPr>
          <a:xfrm xmlns:a="http://schemas.openxmlformats.org/drawingml/2006/main">
            <a:off x="609600" y="4191000"/>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03</a:t>
            </a:r>
          </a:p>
        </p:txBody>
      </p:sp>
      <p:sp>
        <p:nvSpPr>
          <p:cNvPr id="16" name="label-2">
            <a:extLst xmlns:a="http://schemas.openxmlformats.org/drawingml/2006/main">
              <a:ext uri="{FF2B5EF4-FFF2-40B4-BE49-F238E27FC236}">
                <a16:creationId xmlns:a16="http://schemas.microsoft.com/office/drawing/2014/main" id="{2D9E683A-398A-4AB2-AA79-A9276DCE23D4}"/>
              </a:ext>
            </a:extLst>
          </p:cNvPr>
          <p:cNvSpPr>
            <a:spLocks xmlns:a="http://schemas.openxmlformats.org/drawingml/2006/main" noGrp="1"/>
          </p:cNvSpPr>
          <p:nvPr/>
        </p:nvSpPr>
        <p:spPr>
          <a:xfrm xmlns:a="http://schemas.openxmlformats.org/drawingml/2006/main">
            <a:off x="1638300" y="419100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142D32"/>
                </a:solidFill>
                <a:latin typeface="Arial"/>
                <a:ea typeface="Arial"/>
                <a:cs typeface="Arial"/>
              </a:defRPr>
            </a:pPr>
            <a:r>
              <a:rPr sz="2250" b="1">
                <a:solidFill>
                  <a:srgbClr val="142D32"/>
                </a:solidFill>
                <a:latin typeface="Arial"/>
                <a:ea typeface="Arial"/>
                <a:cs typeface="Arial"/>
              </a:rPr>
              <a:t>Add your key</a:t>
            </a:r>
          </a:p>
        </p:txBody>
      </p:sp>
      <p:sp>
        <p:nvSpPr>
          <p:cNvPr id="17" name="detail-2">
            <a:extLst xmlns:a="http://schemas.openxmlformats.org/drawingml/2006/main">
              <a:ext uri="{FF2B5EF4-FFF2-40B4-BE49-F238E27FC236}">
                <a16:creationId xmlns:a16="http://schemas.microsoft.com/office/drawing/2014/main" id="{86AC9DF9-265A-4051-90FA-C86F9F89C9A9}"/>
              </a:ext>
            </a:extLst>
          </p:cNvPr>
          <p:cNvSpPr>
            <a:spLocks xmlns:a="http://schemas.openxmlformats.org/drawingml/2006/main" noGrp="1"/>
          </p:cNvSpPr>
          <p:nvPr/>
        </p:nvSpPr>
        <p:spPr>
          <a:xfrm xmlns:a="http://schemas.openxmlformats.org/drawingml/2006/main">
            <a:off x="4476750" y="4219575"/>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OPENROUTER_API_KEY=your_key</a:t>
            </a:r>
          </a:p>
        </p:txBody>
      </p:sp>
      <p:sp>
        <p:nvSpPr>
          <p:cNvPr id="18" name="number-3">
            <a:extLst xmlns:a="http://schemas.openxmlformats.org/drawingml/2006/main">
              <a:ext uri="{FF2B5EF4-FFF2-40B4-BE49-F238E27FC236}">
                <a16:creationId xmlns:a16="http://schemas.microsoft.com/office/drawing/2014/main" id="{B815891C-F9E3-4E7E-9B17-326932EE6564}"/>
              </a:ext>
            </a:extLst>
          </p:cNvPr>
          <p:cNvSpPr>
            <a:spLocks xmlns:a="http://schemas.openxmlformats.org/drawingml/2006/main" noGrp="1"/>
          </p:cNvSpPr>
          <p:nvPr/>
        </p:nvSpPr>
        <p:spPr>
          <a:xfrm xmlns:a="http://schemas.openxmlformats.org/drawingml/2006/main">
            <a:off x="609600" y="4905375"/>
            <a:ext cx="800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00" b="1">
                <a:solidFill>
                  <a:srgbClr val="087E80"/>
                </a:solidFill>
                <a:latin typeface="Arial"/>
                <a:ea typeface="Arial"/>
                <a:cs typeface="Arial"/>
              </a:defRPr>
            </a:pPr>
            <a:r>
              <a:rPr sz="2400" b="1">
                <a:solidFill>
                  <a:srgbClr val="087E80"/>
                </a:solidFill>
                <a:latin typeface="Arial"/>
                <a:ea typeface="Arial"/>
                <a:cs typeface="Arial"/>
              </a:rPr>
              <a:t>04</a:t>
            </a:r>
          </a:p>
        </p:txBody>
      </p:sp>
      <p:sp>
        <p:nvSpPr>
          <p:cNvPr id="19" name="label-3">
            <a:extLst xmlns:a="http://schemas.openxmlformats.org/drawingml/2006/main">
              <a:ext uri="{FF2B5EF4-FFF2-40B4-BE49-F238E27FC236}">
                <a16:creationId xmlns:a16="http://schemas.microsoft.com/office/drawing/2014/main" id="{D16D2124-C19D-4287-BA72-4BAFA52DD5C6}"/>
              </a:ext>
            </a:extLst>
          </p:cNvPr>
          <p:cNvSpPr>
            <a:spLocks xmlns:a="http://schemas.openxmlformats.org/drawingml/2006/main" noGrp="1"/>
          </p:cNvSpPr>
          <p:nvPr/>
        </p:nvSpPr>
        <p:spPr>
          <a:xfrm xmlns:a="http://schemas.openxmlformats.org/drawingml/2006/main">
            <a:off x="1638300" y="490537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142D32"/>
                </a:solidFill>
                <a:latin typeface="Arial"/>
                <a:ea typeface="Arial"/>
                <a:cs typeface="Arial"/>
              </a:defRPr>
            </a:pPr>
            <a:r>
              <a:rPr sz="2250" b="1">
                <a:solidFill>
                  <a:srgbClr val="142D32"/>
                </a:solidFill>
                <a:latin typeface="Arial"/>
                <a:ea typeface="Arial"/>
                <a:cs typeface="Arial"/>
              </a:rPr>
              <a:t>Save</a:t>
            </a:r>
          </a:p>
        </p:txBody>
      </p:sp>
      <p:sp>
        <p:nvSpPr>
          <p:cNvPr id="20" name="detail-3">
            <a:extLst xmlns:a="http://schemas.openxmlformats.org/drawingml/2006/main">
              <a:ext uri="{FF2B5EF4-FFF2-40B4-BE49-F238E27FC236}">
                <a16:creationId xmlns:a16="http://schemas.microsoft.com/office/drawing/2014/main" id="{9219B99F-90F8-4C32-9F2B-5F01F554F722}"/>
              </a:ext>
            </a:extLst>
          </p:cNvPr>
          <p:cNvSpPr>
            <a:spLocks xmlns:a="http://schemas.openxmlformats.org/drawingml/2006/main" noGrp="1"/>
          </p:cNvSpPr>
          <p:nvPr/>
        </p:nvSpPr>
        <p:spPr>
          <a:xfrm xmlns:a="http://schemas.openxmlformats.org/drawingml/2006/main">
            <a:off x="4476750" y="4933950"/>
            <a:ext cx="7067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.env should say DEMO_MODE=false</a:t>
            </a:r>
          </a:p>
        </p:txBody>
      </p:sp>
    </p:spTree>
    <p:extLst>
      <p:ext uri="{BB962C8B-B14F-4D97-AF65-F5344CB8AC3E}">
        <p14:creationId xmlns:p14="http://schemas.microsoft.com/office/powerpoint/2010/main" val="398891925"/>
      </p:ext>
    </p:extLst>
  </p:cSld>
</p:sld>
</file>

<file path=ppt/slides/slide3.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4" name="club">
            <a:extLst xmlns:a="http://schemas.openxmlformats.org/drawingml/2006/main">
              <a:ext uri="{FF2B5EF4-FFF2-40B4-BE49-F238E27FC236}">
                <a16:creationId xmlns:a16="http://schemas.microsoft.com/office/drawing/2014/main" id="{B4EC50DC-7F40-4DF0-AD4C-53A03D406637}"/>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03E4BAF3-4E46-4487-B205-3D0C06A0154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2. Start your bot</a:t>
            </a:r>
          </a:p>
        </p:txBody>
      </p:sp>
      <p:sp>
        <p:nvSpPr>
          <p:cNvPr id="4" name="subheader">
            <a:extLst xmlns:a="http://schemas.openxmlformats.org/drawingml/2006/main">
              <a:ext uri="{FF2B5EF4-FFF2-40B4-BE49-F238E27FC236}">
                <a16:creationId xmlns:a16="http://schemas.microsoft.com/office/drawing/2014/main" id="{B4878439-B101-4B99-B8D0-0D10A6A52F83}"/>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Open a terminal inside the project folder</a:t>
            </a:r>
          </a:p>
        </p:txBody>
      </p:sp>
      <p:sp>
        <p:nvSpPr>
          <p:cNvPr id="8" name="footer-page">
            <a:extLst xmlns:a="http://schemas.openxmlformats.org/drawingml/2006/main">
              <a:ext uri="{FF2B5EF4-FFF2-40B4-BE49-F238E27FC236}">
                <a16:creationId xmlns:a16="http://schemas.microsoft.com/office/drawing/2014/main" id="{008E3D44-4B38-4AF9-A814-FF598E0F2736}"/>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03 / 06</a:t>
            </a:r>
          </a:p>
        </p:txBody>
      </p:sp>
      <p:sp>
        <p:nvSpPr>
          <p:cNvPr id="9" name="lead">
            <a:extLst xmlns:a="http://schemas.openxmlformats.org/drawingml/2006/main">
              <a:ext uri="{FF2B5EF4-FFF2-40B4-BE49-F238E27FC236}">
                <a16:creationId xmlns:a16="http://schemas.microsoft.com/office/drawing/2014/main" id="{D12E5938-7A26-47FE-BAA6-BA78A948BC97}"/>
              </a:ext>
            </a:extLst>
          </p:cNvPr>
          <p:cNvSpPr>
            <a:spLocks xmlns:a="http://schemas.openxmlformats.org/drawingml/2006/main" noGrp="1"/>
          </p:cNvSpPr>
          <p:nvPr/>
        </p:nvSpPr>
        <p:spPr>
          <a:xfrm xmlns:a="http://schemas.openxmlformats.org/drawingml/2006/main">
            <a:off x="609600" y="2914650"/>
            <a:ext cx="5762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node --env-file=.env server.mjs</a:t>
            </a:r>
          </a:p>
        </p:txBody>
      </p:sp>
      <p:sp>
        <p:nvSpPr>
          <p:cNvPr id="10" name="lead-detail">
            <a:extLst xmlns:a="http://schemas.openxmlformats.org/drawingml/2006/main">
              <a:ext uri="{FF2B5EF4-FFF2-40B4-BE49-F238E27FC236}">
                <a16:creationId xmlns:a16="http://schemas.microsoft.com/office/drawing/2014/main" id="{5F71AD43-4046-4D49-B823-17EA0FEC5825}"/>
              </a:ext>
            </a:extLst>
          </p:cNvPr>
          <p:cNvSpPr>
            <a:spLocks xmlns:a="http://schemas.openxmlformats.org/drawingml/2006/main" noGrp="1"/>
          </p:cNvSpPr>
          <p:nvPr/>
        </p:nvSpPr>
        <p:spPr>
          <a:xfrm xmlns:a="http://schemas.openxmlformats.org/drawingml/2006/main">
            <a:off x="609600" y="4448175"/>
            <a:ext cx="5391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Keep the terminal open.</a:t>
            </a:r>
          </a:p>
        </p:txBody>
      </p:sp>
      <p:sp>
        <p:nvSpPr>
          <p:cNvPr id="11" name="example-label">
            <a:extLst xmlns:a="http://schemas.openxmlformats.org/drawingml/2006/main">
              <a:ext uri="{FF2B5EF4-FFF2-40B4-BE49-F238E27FC236}">
                <a16:creationId xmlns:a16="http://schemas.microsoft.com/office/drawing/2014/main" id="{C0F0E3A6-C0BA-4812-A71E-EE33593570EC}"/>
              </a:ext>
            </a:extLst>
          </p:cNvPr>
          <p:cNvSpPr>
            <a:spLocks xmlns:a="http://schemas.openxmlformats.org/drawingml/2006/main" noGrp="1"/>
          </p:cNvSpPr>
          <p:nvPr/>
        </p:nvSpPr>
        <p:spPr>
          <a:xfrm xmlns:a="http://schemas.openxmlformats.org/drawingml/2006/main">
            <a:off x="6838950" y="2743200"/>
            <a:ext cx="447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1">
                <a:solidFill>
                  <a:srgbClr val="087E80"/>
                </a:solidFill>
                <a:latin typeface="Arial"/>
                <a:ea typeface="Arial"/>
                <a:cs typeface="Arial"/>
              </a:defRPr>
            </a:pPr>
            <a:r>
              <a:rPr sz="1350" b="1">
                <a:solidFill>
                  <a:srgbClr val="087E80"/>
                </a:solidFill>
                <a:latin typeface="Arial"/>
                <a:ea typeface="Arial"/>
                <a:cs typeface="Arial"/>
              </a:rPr>
              <a:t>THEN OPEN YOUR BROWSER</a:t>
            </a:r>
          </a:p>
        </p:txBody>
      </p:sp>
      <p:sp>
        <p:nvSpPr>
          <p:cNvPr id="12" name="example">
            <a:extLst xmlns:a="http://schemas.openxmlformats.org/drawingml/2006/main">
              <a:ext uri="{FF2B5EF4-FFF2-40B4-BE49-F238E27FC236}">
                <a16:creationId xmlns:a16="http://schemas.microsoft.com/office/drawing/2014/main" id="{65C7B07F-0842-498C-AF6D-0DEAB040E8FF}"/>
              </a:ext>
            </a:extLst>
          </p:cNvPr>
          <p:cNvSpPr>
            <a:spLocks xmlns:a="http://schemas.openxmlformats.org/drawingml/2006/main" noGrp="1"/>
          </p:cNvSpPr>
          <p:nvPr/>
        </p:nvSpPr>
        <p:spPr>
          <a:xfrm xmlns:a="http://schemas.openxmlformats.org/drawingml/2006/main">
            <a:off x="6838950" y="3286125"/>
            <a:ext cx="474345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0">
                <a:solidFill>
                  <a:srgbClr val="142D32"/>
                </a:solidFill>
                <a:latin typeface="Arial"/>
                <a:ea typeface="Arial"/>
                <a:cs typeface="Arial"/>
              </a:defRPr>
            </a:pPr>
            <a:r>
              <a:rPr sz="2100" b="0">
                <a:solidFill>
                  <a:srgbClr val="142D32"/>
                </a:solidFill>
                <a:latin typeface="Arial"/>
                <a:ea typeface="Arial"/>
                <a:cs typeface="Arial"/>
              </a:rPr>
              <a:t>http://127.0.0.1:4320</a:t>
            </a:r>
          </a:p>
          <a:p xmlns:a="http://schemas.openxmlformats.org/drawingml/2006/main">
            <a:pPr algn="l">
              <a:buNone/>
              <a:defRPr sz="2325" b="0">
                <a:solidFill>
                  <a:srgbClr val="142D32"/>
                </a:solidFill>
                <a:latin typeface="Arial"/>
                <a:ea typeface="Arial"/>
                <a:cs typeface="Arial"/>
              </a:defRPr>
            </a:pPr>
            <a:r>
              <a:rPr sz="2325" b="0">
                <a:solidFill>
                  <a:srgbClr val="142D32"/>
                </a:solidFill>
                <a:latin typeface="Arial"/>
                <a:ea typeface="Arial"/>
                <a:cs typeface="Arial"/>
              </a:rPr>
              <a:t/>
            </a:r>
          </a:p>
          <a:p xmlns:a="http://schemas.openxmlformats.org/drawingml/2006/main">
            <a:pPr algn="l">
              <a:buNone/>
              <a:defRPr sz="2100" b="0">
                <a:solidFill>
                  <a:srgbClr val="142D32"/>
                </a:solidFill>
                <a:latin typeface="Arial"/>
                <a:ea typeface="Arial"/>
                <a:cs typeface="Arial"/>
              </a:defRPr>
            </a:pPr>
            <a:r>
              <a:rPr sz="2100" b="0">
                <a:solidFill>
                  <a:srgbClr val="142D32"/>
                </a:solidFill>
                <a:latin typeface="Arial"/>
                <a:ea typeface="Arial"/>
                <a:cs typeface="Arial"/>
              </a:rPr>
              <a:t>Click “Give me a dilemma”</a:t>
            </a:r>
          </a:p>
          <a:p xmlns:a="http://schemas.openxmlformats.org/drawingml/2006/main">
            <a:pPr algn="l">
              <a:buNone/>
              <a:defRPr sz="2100" b="0">
                <a:solidFill>
                  <a:srgbClr val="142D32"/>
                </a:solidFill>
                <a:latin typeface="Arial"/>
                <a:ea typeface="Arial"/>
                <a:cs typeface="Arial"/>
              </a:defRPr>
            </a:pPr>
            <a:r>
              <a:rPr sz="2100" b="0">
                <a:solidFill>
                  <a:srgbClr val="142D32"/>
                </a:solidFill>
                <a:latin typeface="Arial"/>
                <a:ea typeface="Arial"/>
                <a:cs typeface="Arial"/>
              </a:rPr>
              <a:t>and send a theme.</a:t>
            </a:r>
          </a:p>
        </p:txBody>
      </p:sp>
      <p:sp>
        <p:nvSpPr>
          <p:cNvPr id="13" name="example-caption">
            <a:extLst xmlns:a="http://schemas.openxmlformats.org/drawingml/2006/main">
              <a:ext uri="{FF2B5EF4-FFF2-40B4-BE49-F238E27FC236}">
                <a16:creationId xmlns:a16="http://schemas.microsoft.com/office/drawing/2014/main" id="{CDE9539E-CA88-4C9C-B91C-E62AD49DED18}"/>
              </a:ext>
            </a:extLst>
          </p:cNvPr>
          <p:cNvSpPr>
            <a:spLocks xmlns:a="http://schemas.openxmlformats.org/drawingml/2006/main" noGrp="1"/>
          </p:cNvSpPr>
          <p:nvPr/>
        </p:nvSpPr>
        <p:spPr>
          <a:xfrm xmlns:a="http://schemas.openxmlformats.org/drawingml/2006/main">
            <a:off x="6838950" y="5248275"/>
            <a:ext cx="47434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1">
                <a:solidFill>
                  <a:srgbClr val="087E80"/>
                </a:solidFill>
                <a:latin typeface="Arial"/>
                <a:ea typeface="Arial"/>
                <a:cs typeface="Arial"/>
              </a:defRPr>
            </a:pPr>
            <a:r>
              <a:rPr sz="1950" b="1">
                <a:solidFill>
                  <a:srgbClr val="087E80"/>
                </a:solidFill>
                <a:latin typeface="Arial"/>
                <a:ea typeface="Arial"/>
                <a:cs typeface="Arial"/>
              </a:rPr>
              <a:t>Your first AI reply</a:t>
            </a:r>
          </a:p>
        </p:txBody>
      </p:sp>
    </p:spTree>
    <p:extLst>
      <p:ext uri="{BB962C8B-B14F-4D97-AF65-F5344CB8AC3E}">
        <p14:creationId xmlns:p14="http://schemas.microsoft.com/office/powerpoint/2010/main" val="22625506"/>
      </p:ext>
    </p:extLst>
  </p:cSld>
</p:sld>
</file>

<file path=ppt/slides/slide4.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4" name="club">
            <a:extLst xmlns:a="http://schemas.openxmlformats.org/drawingml/2006/main">
              <a:ext uri="{FF2B5EF4-FFF2-40B4-BE49-F238E27FC236}">
                <a16:creationId xmlns:a16="http://schemas.microsoft.com/office/drawing/2014/main" id="{B4EC50DC-7F40-4DF0-AD4C-53A03D406637}"/>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03E4BAF3-4E46-4487-B205-3D0C06A0154E}"/>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3. Add it to your website</a:t>
            </a:r>
          </a:p>
        </p:txBody>
      </p:sp>
      <p:sp>
        <p:nvSpPr>
          <p:cNvPr id="4" name="subheader">
            <a:extLst xmlns:a="http://schemas.openxmlformats.org/drawingml/2006/main">
              <a:ext uri="{FF2B5EF4-FFF2-40B4-BE49-F238E27FC236}">
                <a16:creationId xmlns:a16="http://schemas.microsoft.com/office/drawing/2014/main" id="{B4878439-B101-4B99-B8D0-0D10A6A52F83}"/>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Copy the three marked blocks from index.html</a:t>
            </a:r>
          </a:p>
        </p:txBody>
      </p:sp>
      <p:sp>
        <p:nvSpPr>
          <p:cNvPr id="8" name="footer-page">
            <a:extLst xmlns:a="http://schemas.openxmlformats.org/drawingml/2006/main">
              <a:ext uri="{FF2B5EF4-FFF2-40B4-BE49-F238E27FC236}">
                <a16:creationId xmlns:a16="http://schemas.microsoft.com/office/drawing/2014/main" id="{008E3D44-4B38-4AF9-A814-FF598E0F2736}"/>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04 / 06</a:t>
            </a:r>
          </a:p>
        </p:txBody>
      </p:sp>
      <p:sp>
        <p:nvSpPr>
          <p:cNvPr id="9" name="lead">
            <a:extLst xmlns:a="http://schemas.openxmlformats.org/drawingml/2006/main">
              <a:ext uri="{FF2B5EF4-FFF2-40B4-BE49-F238E27FC236}">
                <a16:creationId xmlns:a16="http://schemas.microsoft.com/office/drawing/2014/main" id="{D12E5938-7A26-47FE-BAA6-BA78A948BC97}"/>
              </a:ext>
            </a:extLst>
          </p:cNvPr>
          <p:cNvSpPr>
            <a:spLocks xmlns:a="http://schemas.openxmlformats.org/drawingml/2006/main" noGrp="1"/>
          </p:cNvSpPr>
          <p:nvPr/>
        </p:nvSpPr>
        <p:spPr>
          <a:xfrm xmlns:a="http://schemas.openxmlformats.org/drawingml/2006/main">
            <a:off x="609600" y="2781300"/>
            <a:ext cx="571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BOT CSS into &lt;head&gt;</a:t>
            </a:r>
          </a:p>
          <a:p xmlns:a="http://schemas.openxmlformats.org/drawingml/2006/main">
            <a:pPr algn="l">
              <a:buNone/>
              <a:defRPr sz="3225" b="1">
                <a:solidFill>
                  <a:srgbClr val="142D32"/>
                </a:solidFill>
                <a:latin typeface="Arial"/>
                <a:ea typeface="Arial"/>
                <a:cs typeface="Arial"/>
              </a:defRPr>
            </a:pPr>
            <a:r>
              <a:rPr sz="3225" b="1">
                <a:solidFill>
                  <a:srgbClr val="142D32"/>
                </a:solidFill>
                <a:latin typeface="Arial"/>
                <a:ea typeface="Arial"/>
                <a:cs typeface="Arial"/>
              </a:rPr>
              <a:t/>
            </a:r>
          </a:p>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BOT HTML + BOT SCRIPT</a:t>
            </a:r>
          </a:p>
          <a:p xmlns:a="http://schemas.openxmlformats.org/drawingml/2006/main">
            <a:pPr algn="l">
              <a:buNone/>
              <a:defRPr sz="2175" b="1">
                <a:solidFill>
                  <a:srgbClr val="142D32"/>
                </a:solidFill>
                <a:latin typeface="Arial"/>
                <a:ea typeface="Arial"/>
                <a:cs typeface="Arial"/>
              </a:defRPr>
            </a:pPr>
            <a:r>
              <a:rPr sz="2175" b="1">
                <a:solidFill>
                  <a:srgbClr val="142D32"/>
                </a:solidFill>
                <a:latin typeface="Arial"/>
                <a:ea typeface="Arial"/>
                <a:cs typeface="Arial"/>
              </a:rPr>
              <a:t>before &lt;/body&gt;</a:t>
            </a:r>
          </a:p>
        </p:txBody>
      </p:sp>
      <p:sp>
        <p:nvSpPr>
          <p:cNvPr id="10" name="lead-detail">
            <a:extLst xmlns:a="http://schemas.openxmlformats.org/drawingml/2006/main">
              <a:ext uri="{FF2B5EF4-FFF2-40B4-BE49-F238E27FC236}">
                <a16:creationId xmlns:a16="http://schemas.microsoft.com/office/drawing/2014/main" id="{5F71AD43-4046-4D49-B823-17EA0FEC5825}"/>
              </a:ext>
            </a:extLst>
          </p:cNvPr>
          <p:cNvSpPr>
            <a:spLocks xmlns:a="http://schemas.openxmlformats.org/drawingml/2006/main" noGrp="1"/>
          </p:cNvSpPr>
          <p:nvPr/>
        </p:nvSpPr>
        <p:spPr>
          <a:xfrm xmlns:a="http://schemas.openxmlformats.org/drawingml/2006/main">
            <a:off x="609600" y="4838700"/>
            <a:ext cx="5715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Save as project/index.html.</a:t>
            </a:r>
          </a:p>
          <a:p xmlns:a="http://schemas.openxmlformats.org/drawingml/2006/main">
            <a:pPr algn="l">
              <a:buNone/>
              <a:defRPr sz="2025" b="0">
                <a:solidFill>
                  <a:srgbClr val="53686C"/>
                </a:solidFill>
                <a:latin typeface="Arial"/>
                <a:ea typeface="Arial"/>
                <a:cs typeface="Arial"/>
              </a:defRPr>
            </a:pPr>
            <a:r>
              <a:rPr sz="2025" b="0">
                <a:solidFill>
                  <a:srgbClr val="53686C"/>
                </a:solidFill>
                <a:latin typeface="Arial"/>
                <a:ea typeface="Arial"/>
                <a:cs typeface="Arial"/>
              </a:rPr>
              <a:t>Refresh your browser.</a:t>
            </a:r>
          </a:p>
        </p:txBody>
      </p:sp>
      <p:sp>
        <p:nvSpPr>
          <p:cNvPr id="11" name="example-label">
            <a:extLst xmlns:a="http://schemas.openxmlformats.org/drawingml/2006/main">
              <a:ext uri="{FF2B5EF4-FFF2-40B4-BE49-F238E27FC236}">
                <a16:creationId xmlns:a16="http://schemas.microsoft.com/office/drawing/2014/main" id="{C0F0E3A6-C0BA-4812-A71E-EE33593570EC}"/>
              </a:ext>
            </a:extLst>
          </p:cNvPr>
          <p:cNvSpPr>
            <a:spLocks xmlns:a="http://schemas.openxmlformats.org/drawingml/2006/main" noGrp="1"/>
          </p:cNvSpPr>
          <p:nvPr/>
        </p:nvSpPr>
        <p:spPr>
          <a:xfrm xmlns:a="http://schemas.openxmlformats.org/drawingml/2006/main">
            <a:off x="6838950" y="2743200"/>
            <a:ext cx="447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1">
                <a:solidFill>
                  <a:srgbClr val="087E80"/>
                </a:solidFill>
                <a:latin typeface="Arial"/>
                <a:ea typeface="Arial"/>
                <a:cs typeface="Arial"/>
              </a:defRPr>
            </a:pPr>
            <a:r>
              <a:rPr sz="1350" b="1">
                <a:solidFill>
                  <a:srgbClr val="087E80"/>
                </a:solidFill>
                <a:latin typeface="Arial"/>
                <a:ea typeface="Arial"/>
                <a:cs typeface="Arial"/>
              </a:rPr>
              <a:t>THE BROWSER CALLS YOUR ROUTE</a:t>
            </a:r>
          </a:p>
        </p:txBody>
      </p:sp>
      <p:sp>
        <p:nvSpPr>
          <p:cNvPr id="12" name="example">
            <a:extLst xmlns:a="http://schemas.openxmlformats.org/drawingml/2006/main">
              <a:ext uri="{FF2B5EF4-FFF2-40B4-BE49-F238E27FC236}">
                <a16:creationId xmlns:a16="http://schemas.microsoft.com/office/drawing/2014/main" id="{65C7B07F-0842-498C-AF6D-0DEAB040E8FF}"/>
              </a:ext>
            </a:extLst>
          </p:cNvPr>
          <p:cNvSpPr>
            <a:spLocks xmlns:a="http://schemas.openxmlformats.org/drawingml/2006/main" noGrp="1"/>
          </p:cNvSpPr>
          <p:nvPr/>
        </p:nvSpPr>
        <p:spPr>
          <a:xfrm xmlns:a="http://schemas.openxmlformats.org/drawingml/2006/main">
            <a:off x="6838950" y="3238500"/>
            <a:ext cx="47434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fetch('/api/chat', {</a:t>
            </a:r>
          </a:p>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  method: 'POST',</a:t>
            </a:r>
          </a:p>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  headers: {'Content-Type':</a:t>
            </a:r>
          </a:p>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    'application/json'},</a:t>
            </a:r>
          </a:p>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  body: JSON.stringify({message})</a:t>
            </a:r>
          </a:p>
          <a:p xmlns:a="http://schemas.openxmlformats.org/drawingml/2006/main">
            <a:pPr algn="l">
              <a:buNone/>
              <a:defRPr sz="1650" b="0">
                <a:solidFill>
                  <a:srgbClr val="142D32"/>
                </a:solidFill>
                <a:latin typeface="Arial"/>
                <a:ea typeface="Arial"/>
                <a:cs typeface="Arial"/>
              </a:defRPr>
            </a:pPr>
            <a:r>
              <a:rPr sz="1650" b="0">
                <a:solidFill>
                  <a:srgbClr val="142D32"/>
                </a:solidFill>
                <a:latin typeface="Arial"/>
                <a:ea typeface="Arial"/>
                <a:cs typeface="Arial"/>
              </a:rPr>
              <a:t>})</a:t>
            </a:r>
          </a:p>
        </p:txBody>
      </p:sp>
      <p:sp>
        <p:nvSpPr>
          <p:cNvPr id="13" name="example-caption">
            <a:extLst xmlns:a="http://schemas.openxmlformats.org/drawingml/2006/main">
              <a:ext uri="{FF2B5EF4-FFF2-40B4-BE49-F238E27FC236}">
                <a16:creationId xmlns:a16="http://schemas.microsoft.com/office/drawing/2014/main" id="{CDE9539E-CA88-4C9C-B91C-E62AD49DED18}"/>
              </a:ext>
            </a:extLst>
          </p:cNvPr>
          <p:cNvSpPr>
            <a:spLocks xmlns:a="http://schemas.openxmlformats.org/drawingml/2006/main" noGrp="1"/>
          </p:cNvSpPr>
          <p:nvPr/>
        </p:nvSpPr>
        <p:spPr>
          <a:xfrm xmlns:a="http://schemas.openxmlformats.org/drawingml/2006/main">
            <a:off x="6838950" y="5248275"/>
            <a:ext cx="47434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1">
                <a:solidFill>
                  <a:srgbClr val="087E80"/>
                </a:solidFill>
                <a:latin typeface="Arial"/>
                <a:ea typeface="Arial"/>
                <a:cs typeface="Arial"/>
              </a:defRPr>
            </a:pPr>
            <a:r>
              <a:rPr sz="1875" b="1">
                <a:solidFill>
                  <a:srgbClr val="087E80"/>
                </a:solidFill>
                <a:latin typeface="Arial"/>
                <a:ea typeface="Arial"/>
                <a:cs typeface="Arial"/>
              </a:rPr>
              <a:t>Your key stays on the server.</a:t>
            </a:r>
          </a:p>
        </p:txBody>
      </p:sp>
    </p:spTree>
    <p:extLst>
      <p:ext uri="{BB962C8B-B14F-4D97-AF65-F5344CB8AC3E}">
        <p14:creationId xmlns:p14="http://schemas.microsoft.com/office/powerpoint/2010/main" val="22625506"/>
      </p:ext>
    </p:extLst>
  </p:cSld>
</p:sld>
</file>

<file path=ppt/slides/slide5.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5" name="club">
            <a:extLst xmlns:a="http://schemas.openxmlformats.org/drawingml/2006/main">
              <a:ext uri="{FF2B5EF4-FFF2-40B4-BE49-F238E27FC236}">
                <a16:creationId xmlns:a16="http://schemas.microsoft.com/office/drawing/2014/main" id="{9E83BF3D-4E04-49A2-A99B-2303192D1937}"/>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A66A34A4-4A81-42D5-B58A-9B73C21546DF}"/>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4. Make it your own</a:t>
            </a:r>
          </a:p>
        </p:txBody>
      </p:sp>
      <p:sp>
        <p:nvSpPr>
          <p:cNvPr id="4" name="subheader">
            <a:extLst xmlns:a="http://schemas.openxmlformats.org/drawingml/2006/main">
              <a:ext uri="{FF2B5EF4-FFF2-40B4-BE49-F238E27FC236}">
                <a16:creationId xmlns:a16="http://schemas.microsoft.com/office/drawing/2014/main" id="{C1B0794C-E341-4380-9A7B-1FBF40F989AC}"/>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Change SYSTEM_PROMPT in server.mjs</a:t>
            </a:r>
          </a:p>
        </p:txBody>
      </p:sp>
      <p:sp>
        <p:nvSpPr>
          <p:cNvPr id="8" name="footer-page">
            <a:extLst xmlns:a="http://schemas.openxmlformats.org/drawingml/2006/main">
              <a:ext uri="{FF2B5EF4-FFF2-40B4-BE49-F238E27FC236}">
                <a16:creationId xmlns:a16="http://schemas.microsoft.com/office/drawing/2014/main" id="{28852A21-0BEF-4D32-B0EF-ED940BEFFFA1}"/>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05 / 06</a:t>
            </a:r>
          </a:p>
        </p:txBody>
      </p:sp>
      <p:sp>
        <p:nvSpPr>
          <p:cNvPr id="9" name="left-label">
            <a:extLst xmlns:a="http://schemas.openxmlformats.org/drawingml/2006/main">
              <a:ext uri="{FF2B5EF4-FFF2-40B4-BE49-F238E27FC236}">
                <a16:creationId xmlns:a16="http://schemas.microsoft.com/office/drawing/2014/main" id="{14E39621-3B97-4313-AF9C-62C6D82598D7}"/>
              </a:ext>
            </a:extLst>
          </p:cNvPr>
          <p:cNvSpPr>
            <a:spLocks xmlns:a="http://schemas.openxmlformats.org/drawingml/2006/main" noGrp="1"/>
          </p:cNvSpPr>
          <p:nvPr/>
        </p:nvSpPr>
        <p:spPr>
          <a:xfrm xmlns:a="http://schemas.openxmlformats.org/drawingml/2006/main">
            <a:off x="609600" y="2752725"/>
            <a:ext cx="499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53686C"/>
                </a:solidFill>
                <a:latin typeface="Arial"/>
                <a:ea typeface="Arial"/>
                <a:cs typeface="Arial"/>
              </a:defRPr>
            </a:pPr>
            <a:r>
              <a:rPr sz="1425" b="1">
                <a:solidFill>
                  <a:srgbClr val="53686C"/>
                </a:solidFill>
                <a:latin typeface="Arial"/>
                <a:ea typeface="Arial"/>
                <a:cs typeface="Arial"/>
              </a:rPr>
              <a:t>TRY A DIFFERENT STYLE</a:t>
            </a:r>
          </a:p>
        </p:txBody>
      </p:sp>
      <p:sp>
        <p:nvSpPr>
          <p:cNvPr id="10" name="left-prompt">
            <a:extLst xmlns:a="http://schemas.openxmlformats.org/drawingml/2006/main">
              <a:ext uri="{FF2B5EF4-FFF2-40B4-BE49-F238E27FC236}">
                <a16:creationId xmlns:a16="http://schemas.microsoft.com/office/drawing/2014/main" id="{F5C4BD44-0293-4300-88D1-582D0C509FBE}"/>
              </a:ext>
            </a:extLst>
          </p:cNvPr>
          <p:cNvSpPr>
            <a:spLocks xmlns:a="http://schemas.openxmlformats.org/drawingml/2006/main" noGrp="1"/>
          </p:cNvSpPr>
          <p:nvPr/>
        </p:nvSpPr>
        <p:spPr>
          <a:xfrm xmlns:a="http://schemas.openxmlformats.org/drawingml/2006/main">
            <a:off x="609600" y="3314700"/>
            <a:ext cx="52387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Only use food themes.</a:t>
            </a:r>
          </a:p>
          <a:p xmlns:a="http://schemas.openxmlformats.org/drawingml/2006/main">
            <a:pPr algn="l">
              <a:buNone/>
              <a:defRPr sz="2700" b="1">
                <a:solidFill>
                  <a:srgbClr val="142D32"/>
                </a:solidFill>
                <a:latin typeface="Arial"/>
                <a:ea typeface="Arial"/>
                <a:cs typeface="Arial"/>
              </a:defRPr>
            </a:pPr>
            <a:r>
              <a:rPr sz="2700" b="1">
                <a:solidFill>
                  <a:srgbClr val="142D32"/>
                </a:solidFill>
                <a:latin typeface="Arial"/>
                <a:ea typeface="Arial"/>
                <a:cs typeface="Arial"/>
              </a:rPr>
              <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Make both choices ridiculous.</a:t>
            </a:r>
          </a:p>
          <a:p xmlns:a="http://schemas.openxmlformats.org/drawingml/2006/main">
            <a:pPr algn="l">
              <a:buNone/>
              <a:defRPr sz="2700" b="1">
                <a:solidFill>
                  <a:srgbClr val="142D32"/>
                </a:solidFill>
                <a:latin typeface="Arial"/>
                <a:ea typeface="Arial"/>
                <a:cs typeface="Arial"/>
              </a:defRPr>
            </a:pPr>
            <a:r>
              <a:rPr sz="2700" b="1">
                <a:solidFill>
                  <a:srgbClr val="142D32"/>
                </a:solidFill>
                <a:latin typeface="Arial"/>
                <a:ea typeface="Arial"/>
                <a:cs typeface="Arial"/>
              </a:rPr>
              <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Keep each choice one sentence.</a:t>
            </a:r>
          </a:p>
        </p:txBody>
      </p:sp>
      <p:sp>
        <p:nvSpPr>
          <p:cNvPr id="11" name="left-caption">
            <a:extLst xmlns:a="http://schemas.openxmlformats.org/drawingml/2006/main">
              <a:ext uri="{FF2B5EF4-FFF2-40B4-BE49-F238E27FC236}">
                <a16:creationId xmlns:a16="http://schemas.microsoft.com/office/drawing/2014/main" id="{25D8FBD5-2925-42B1-A10D-32015BA93D47}"/>
              </a:ext>
            </a:extLst>
          </p:cNvPr>
          <p:cNvSpPr>
            <a:spLocks xmlns:a="http://schemas.openxmlformats.org/drawingml/2006/main" noGrp="1"/>
          </p:cNvSpPr>
          <p:nvPr/>
        </p:nvSpPr>
        <p:spPr>
          <a:xfrm xmlns:a="http://schemas.openxmlformats.org/drawingml/2006/main">
            <a:off x="609600" y="549592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Predict how the answer will change.</a:t>
            </a:r>
          </a:p>
        </p:txBody>
      </p:sp>
      <p:sp>
        <p:nvSpPr>
          <p:cNvPr id="12" name="right-label">
            <a:extLst xmlns:a="http://schemas.openxmlformats.org/drawingml/2006/main">
              <a:ext uri="{FF2B5EF4-FFF2-40B4-BE49-F238E27FC236}">
                <a16:creationId xmlns:a16="http://schemas.microsoft.com/office/drawing/2014/main" id="{03B0C3C5-AB47-47C5-86F9-888C436E1B3E}"/>
              </a:ext>
            </a:extLst>
          </p:cNvPr>
          <p:cNvSpPr>
            <a:spLocks xmlns:a="http://schemas.openxmlformats.org/drawingml/2006/main" noGrp="1"/>
          </p:cNvSpPr>
          <p:nvPr/>
        </p:nvSpPr>
        <p:spPr>
          <a:xfrm xmlns:a="http://schemas.openxmlformats.org/drawingml/2006/main">
            <a:off x="6610350" y="2752725"/>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1">
                <a:solidFill>
                  <a:srgbClr val="087E80"/>
                </a:solidFill>
                <a:latin typeface="Arial"/>
                <a:ea typeface="Arial"/>
                <a:cs typeface="Arial"/>
              </a:defRPr>
            </a:pPr>
            <a:r>
              <a:rPr sz="1425" b="1">
                <a:solidFill>
                  <a:srgbClr val="087E80"/>
                </a:solidFill>
                <a:latin typeface="Arial"/>
                <a:ea typeface="Arial"/>
                <a:cs typeface="Arial"/>
              </a:rPr>
              <a:t>SAVE AND TRY AGAIN</a:t>
            </a:r>
          </a:p>
        </p:txBody>
      </p:sp>
      <p:sp>
        <p:nvSpPr>
          <p:cNvPr id="13" name="right-prompt">
            <a:extLst xmlns:a="http://schemas.openxmlformats.org/drawingml/2006/main">
              <a:ext uri="{FF2B5EF4-FFF2-40B4-BE49-F238E27FC236}">
                <a16:creationId xmlns:a16="http://schemas.microsoft.com/office/drawing/2014/main" id="{59F90D52-9B1C-4538-8AA2-B3B63DC2FB4F}"/>
              </a:ext>
            </a:extLst>
          </p:cNvPr>
          <p:cNvSpPr>
            <a:spLocks xmlns:a="http://schemas.openxmlformats.org/drawingml/2006/main" noGrp="1"/>
          </p:cNvSpPr>
          <p:nvPr/>
        </p:nvSpPr>
        <p:spPr>
          <a:xfrm xmlns:a="http://schemas.openxmlformats.org/drawingml/2006/main">
            <a:off x="6610350" y="3314700"/>
            <a:ext cx="49720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Save the file.</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Stop with Ctrl+C.</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Run the command again.</a:t>
            </a:r>
          </a:p>
          <a:p xmlns:a="http://schemas.openxmlformats.org/drawingml/2006/main">
            <a:pPr algn="l">
              <a:buNone/>
              <a:defRPr sz="2100" b="1">
                <a:solidFill>
                  <a:srgbClr val="142D32"/>
                </a:solidFill>
                <a:latin typeface="Arial"/>
                <a:ea typeface="Arial"/>
                <a:cs typeface="Arial"/>
              </a:defRPr>
            </a:pPr>
            <a:r>
              <a:rPr sz="2100" b="1">
                <a:solidFill>
                  <a:srgbClr val="142D32"/>
                </a:solidFill>
                <a:latin typeface="Arial"/>
                <a:ea typeface="Arial"/>
                <a:cs typeface="Arial"/>
              </a:rPr>
              <a:t>Send the same theme.</a:t>
            </a:r>
          </a:p>
        </p:txBody>
      </p:sp>
      <p:sp>
        <p:nvSpPr>
          <p:cNvPr id="14" name="right-caption">
            <a:extLst xmlns:a="http://schemas.openxmlformats.org/drawingml/2006/main">
              <a:ext uri="{FF2B5EF4-FFF2-40B4-BE49-F238E27FC236}">
                <a16:creationId xmlns:a16="http://schemas.microsoft.com/office/drawing/2014/main" id="{5B07DFD3-E43F-4008-8F22-CC5D5DF20D5C}"/>
              </a:ext>
            </a:extLst>
          </p:cNvPr>
          <p:cNvSpPr>
            <a:spLocks xmlns:a="http://schemas.openxmlformats.org/drawingml/2006/main" noGrp="1"/>
          </p:cNvSpPr>
          <p:nvPr/>
        </p:nvSpPr>
        <p:spPr>
          <a:xfrm xmlns:a="http://schemas.openxmlformats.org/drawingml/2006/main">
            <a:off x="6610350" y="5495925"/>
            <a:ext cx="4972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You can rename the button, too.</a:t>
            </a:r>
          </a:p>
        </p:txBody>
      </p:sp>
    </p:spTree>
    <p:extLst>
      <p:ext uri="{BB962C8B-B14F-4D97-AF65-F5344CB8AC3E}">
        <p14:creationId xmlns:p14="http://schemas.microsoft.com/office/powerpoint/2010/main" val="1499610271"/>
      </p:ext>
    </p:extLst>
  </p:cSld>
</p:sld>
</file>

<file path=ppt/slides/slide6.xml><?xml version="1.0" encoding="utf-8"?>
<p:sld xmlns:p="http://schemas.openxmlformats.org/presentationml/2006/main">
  <p:cSld>
    <p:bg>
      <p:bgPr>
        <a:solidFill xmlns:a="http://schemas.openxmlformats.org/drawingml/2006/main">
          <a:srgbClr val="F8FAF8"/>
        </a:solidFill>
      </p:bgPr>
    </p:bg>
    <p:spTree>
      <p:nvGrpSpPr>
        <p:cNvPr id="1" name=""/>
        <p:cNvGrpSpPr/>
        <p:nvPr/>
      </p:nvGrpSpPr>
      <p:grpSpPr>
        <a:xfrm xmlns:a="http://schemas.openxmlformats.org/drawingml/2006/main"/>
      </p:grpSpPr>
      <p:sp>
        <p:nvSpPr>
          <p:cNvPr id="11" name="club">
            <a:extLst xmlns:a="http://schemas.openxmlformats.org/drawingml/2006/main">
              <a:ext uri="{FF2B5EF4-FFF2-40B4-BE49-F238E27FC236}">
                <a16:creationId xmlns:a16="http://schemas.microsoft.com/office/drawing/2014/main" id="{30F3744F-9046-463F-9D84-F322F7F45C2F}"/>
              </a:ext>
            </a:extLst>
          </p:cNvPr>
          <p:cNvSpPr>
            <a:spLocks xmlns:a="http://schemas.openxmlformats.org/drawingml/2006/main" noGrp="1"/>
          </p:cNvSpPr>
          <p:nvPr/>
        </p:nvSpPr>
        <p:spPr>
          <a:xfrm xmlns:a="http://schemas.openxmlformats.org/drawingml/2006/main">
            <a:off x="609600" y="3238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1">
                <a:solidFill>
                  <a:srgbClr val="142D32"/>
                </a:solidFill>
                <a:latin typeface="Arial"/>
                <a:ea typeface="Arial"/>
                <a:cs typeface="Arial"/>
              </a:defRPr>
            </a:pPr>
            <a:r>
              <a:rPr sz="1500" b="1">
                <a:solidFill>
                  <a:srgbClr val="142D32"/>
                </a:solidFill>
                <a:latin typeface="Arial"/>
                <a:ea typeface="Arial"/>
                <a:cs typeface="Arial"/>
              </a:rPr>
              <a:t>AI CLUB</a:t>
            </a:r>
          </a:p>
        </p:txBody>
      </p:sp>
      <p:sp>
        <p:nvSpPr>
          <p:cNvPr id="3" name="title">
            <a:extLst xmlns:a="http://schemas.openxmlformats.org/drawingml/2006/main">
              <a:ext uri="{FF2B5EF4-FFF2-40B4-BE49-F238E27FC236}">
                <a16:creationId xmlns:a16="http://schemas.microsoft.com/office/drawing/2014/main" id="{8B46E0BB-21F9-4F6E-9206-F8237D0B2A5A}"/>
              </a:ext>
            </a:extLst>
          </p:cNvPr>
          <p:cNvSpPr>
            <a:spLocks xmlns:a="http://schemas.openxmlformats.org/drawingml/2006/main" noGrp="1"/>
          </p:cNvSpPr>
          <p:nvPr/>
        </p:nvSpPr>
        <p:spPr>
          <a:xfrm xmlns:a="http://schemas.openxmlformats.org/drawingml/2006/main">
            <a:off x="609600" y="10668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142D32"/>
                </a:solidFill>
                <a:latin typeface="Arial"/>
                <a:ea typeface="Arial"/>
                <a:cs typeface="Arial"/>
              </a:defRPr>
            </a:pPr>
            <a:r>
              <a:rPr sz="3600" b="1">
                <a:solidFill>
                  <a:srgbClr val="142D32"/>
                </a:solidFill>
                <a:latin typeface="Arial"/>
                <a:ea typeface="Arial"/>
                <a:cs typeface="Arial"/>
              </a:rPr>
              <a:t>Try it together</a:t>
            </a:r>
          </a:p>
        </p:txBody>
      </p:sp>
      <p:sp>
        <p:nvSpPr>
          <p:cNvPr id="4" name="subheader">
            <a:extLst xmlns:a="http://schemas.openxmlformats.org/drawingml/2006/main">
              <a:ext uri="{FF2B5EF4-FFF2-40B4-BE49-F238E27FC236}">
                <a16:creationId xmlns:a16="http://schemas.microsoft.com/office/drawing/2014/main" id="{C71F0A53-F290-49BB-BABC-015CF06D9A95}"/>
              </a:ext>
            </a:extLst>
          </p:cNvPr>
          <p:cNvSpPr>
            <a:spLocks xmlns:a="http://schemas.openxmlformats.org/drawingml/2006/main" noGrp="1"/>
          </p:cNvSpPr>
          <p:nvPr/>
        </p:nvSpPr>
        <p:spPr>
          <a:xfrm xmlns:a="http://schemas.openxmlformats.org/drawingml/2006/main">
            <a:off x="609600" y="18478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53686C"/>
                </a:solidFill>
                <a:latin typeface="Arial"/>
                <a:ea typeface="Arial"/>
                <a:cs typeface="Arial"/>
              </a:defRPr>
            </a:pPr>
            <a:r>
              <a:rPr sz="1875" b="0">
                <a:solidFill>
                  <a:srgbClr val="53686C"/>
                </a:solidFill>
                <a:latin typeface="Arial"/>
                <a:ea typeface="Arial"/>
                <a:cs typeface="Arial"/>
              </a:rPr>
              <a:t>Give everyone the same theme</a:t>
            </a:r>
          </a:p>
        </p:txBody>
      </p:sp>
      <p:sp>
        <p:nvSpPr>
          <p:cNvPr id="8" name="footer-page">
            <a:extLst xmlns:a="http://schemas.openxmlformats.org/drawingml/2006/main">
              <a:ext uri="{FF2B5EF4-FFF2-40B4-BE49-F238E27FC236}">
                <a16:creationId xmlns:a16="http://schemas.microsoft.com/office/drawing/2014/main" id="{CCD84621-7C73-4823-A9C6-1F09A22F351D}"/>
              </a:ext>
            </a:extLst>
          </p:cNvPr>
          <p:cNvSpPr>
            <a:spLocks xmlns:a="http://schemas.openxmlformats.org/drawingml/2006/main" noGrp="1"/>
          </p:cNvSpPr>
          <p:nvPr/>
        </p:nvSpPr>
        <p:spPr>
          <a:xfrm xmlns:a="http://schemas.openxmlformats.org/drawingml/2006/main">
            <a:off x="10477500" y="6238875"/>
            <a:ext cx="1104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0">
                <a:solidFill>
                  <a:srgbClr val="53686C"/>
                </a:solidFill>
                <a:latin typeface="Arial"/>
                <a:ea typeface="Arial"/>
                <a:cs typeface="Arial"/>
              </a:defRPr>
            </a:pPr>
            <a:r>
              <a:rPr sz="1350" b="0">
                <a:solidFill>
                  <a:srgbClr val="53686C"/>
                </a:solidFill>
                <a:latin typeface="Arial"/>
                <a:ea typeface="Arial"/>
                <a:cs typeface="Arial"/>
              </a:rPr>
              <a:t>06 / 06</a:t>
            </a:r>
          </a:p>
        </p:txBody>
      </p:sp>
      <p:sp>
        <p:nvSpPr>
          <p:cNvPr id="9" name="reflection-question">
            <a:extLst xmlns:a="http://schemas.openxmlformats.org/drawingml/2006/main">
              <a:ext uri="{FF2B5EF4-FFF2-40B4-BE49-F238E27FC236}">
                <a16:creationId xmlns:a16="http://schemas.microsoft.com/office/drawing/2014/main" id="{8F356028-E54E-4957-A85C-A4E198C06721}"/>
              </a:ext>
            </a:extLst>
          </p:cNvPr>
          <p:cNvSpPr>
            <a:spLocks xmlns:a="http://schemas.openxmlformats.org/drawingml/2006/main" noGrp="1"/>
          </p:cNvSpPr>
          <p:nvPr/>
        </p:nvSpPr>
        <p:spPr>
          <a:xfrm xmlns:a="http://schemas.openxmlformats.org/drawingml/2006/main">
            <a:off x="609600" y="28479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300" b="1">
                <a:solidFill>
                  <a:srgbClr val="142D32"/>
                </a:solidFill>
                <a:latin typeface="Arial"/>
                <a:ea typeface="Arial"/>
                <a:cs typeface="Arial"/>
              </a:defRPr>
            </a:pPr>
            <a:r>
              <a:rPr sz="3300" b="1">
                <a:solidFill>
                  <a:srgbClr val="142D32"/>
                </a:solidFill>
                <a:latin typeface="Arial"/>
                <a:ea typeface="Arial"/>
                <a:cs typeface="Arial"/>
              </a:rPr>
              <a:t>Which would you choose?</a:t>
            </a:r>
          </a:p>
          <a:p xmlns:a="http://schemas.openxmlformats.org/drawingml/2006/main">
            <a:pPr algn="l">
              <a:buNone/>
              <a:defRPr sz="3300" b="1">
                <a:solidFill>
                  <a:srgbClr val="142D32"/>
                </a:solidFill>
                <a:latin typeface="Arial"/>
                <a:ea typeface="Arial"/>
                <a:cs typeface="Arial"/>
              </a:defRPr>
            </a:pPr>
            <a:r>
              <a:rPr sz="3300" b="1">
                <a:solidFill>
                  <a:srgbClr val="142D32"/>
                </a:solidFill>
                <a:latin typeface="Arial"/>
                <a:ea typeface="Arial"/>
                <a:cs typeface="Arial"/>
              </a:rPr>
              <a:t>What made it a good question?</a:t>
            </a:r>
          </a:p>
        </p:txBody>
      </p:sp>
      <p:sp>
        <p:nvSpPr>
          <p:cNvPr id="10" name="reflection-next">
            <a:extLst xmlns:a="http://schemas.openxmlformats.org/drawingml/2006/main">
              <a:ext uri="{FF2B5EF4-FFF2-40B4-BE49-F238E27FC236}">
                <a16:creationId xmlns:a16="http://schemas.microsoft.com/office/drawing/2014/main" id="{3B7A4D94-60A1-4091-8FB4-FA4060EB0668}"/>
              </a:ext>
            </a:extLst>
          </p:cNvPr>
          <p:cNvSpPr>
            <a:spLocks xmlns:a="http://schemas.openxmlformats.org/drawingml/2006/main" noGrp="1"/>
          </p:cNvSpPr>
          <p:nvPr/>
        </p:nvSpPr>
        <p:spPr>
          <a:xfrm xmlns:a="http://schemas.openxmlformats.org/drawingml/2006/main">
            <a:off x="638175" y="4781550"/>
            <a:ext cx="109442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75" b="1">
                <a:solidFill>
                  <a:srgbClr val="087E80"/>
                </a:solidFill>
                <a:latin typeface="Arial"/>
                <a:ea typeface="Arial"/>
                <a:cs typeface="Arial"/>
              </a:defRPr>
            </a:pPr>
            <a:r>
              <a:rPr sz="2175" b="1">
                <a:solidFill>
                  <a:srgbClr val="087E80"/>
                </a:solidFill>
                <a:latin typeface="Arial"/>
                <a:ea typeface="Arial"/>
                <a:cs typeface="Arial"/>
              </a:rPr>
              <a:t>Try “food”, “superpowers”, or “college life”.</a:t>
            </a:r>
          </a:p>
        </p:txBody>
      </p:sp>
    </p:spTree>
    <p:extLst>
      <p:ext uri="{BB962C8B-B14F-4D97-AF65-F5344CB8AC3E}">
        <p14:creationId xmlns:p14="http://schemas.microsoft.com/office/powerpoint/2010/main" val="20709373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2026-10-01T00:22:03.4240000Z</dcterms:created>
  <dcterms:modified xsi:type="dcterms:W3CDTF">2026-10-01T00:22:03.4240000Z</dcterms:modified>
</coreProperties>
</file>